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WHAT’S NEXT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1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The road ahead: from watching to commanding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The shadow phase proved Python </a:t>
            </a:r>
            <a:r>
              <a:rPr sz="1350" b="1">
                <a:solidFill>
                  <a:srgbClr val="16222D"/>
                </a:solidFill>
                <a:latin typeface="Segoe UI"/>
              </a:rPr>
              <a:t>decides</a:t>
            </a:r>
            <a:r>
              <a:rPr sz="1350" b="0">
                <a:solidFill>
                  <a:srgbClr val="5C6B78"/>
                </a:solidFill>
                <a:latin typeface="Segoe UI"/>
              </a:rPr>
              <a:t> correctly. The next phases give it hands — carefully: each increase in authority is built, then deliberately broken on the bench, and only granted after it fails safely and the team signs 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3999" y="2395728"/>
            <a:ext cx="2395728" cy="1298448"/>
          </a:xfrm>
          <a:prstGeom prst="roundRect">
            <a:avLst>
              <a:gd name="adj" fmla="val 8000"/>
            </a:avLst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B45B0E"/>
                </a:solidFill>
                <a:latin typeface="Consolas"/>
              </a:rPr>
              <a:t>PHASE B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B45B0E"/>
                </a:solidFill>
                <a:latin typeface="Segoe UI"/>
              </a:rPr>
              <a:t>Command path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16222D"/>
                </a:solidFill>
                <a:latin typeface="Segoe UI"/>
              </a:rPr>
              <a:t>wire the LabVIEW write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16222D"/>
                </a:solidFill>
                <a:latin typeface="Segoe UI"/>
              </a:rPr>
              <a:t>path, then drill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8943" y="22219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45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onsolas"/>
              </a:rPr>
              <a:t>UP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9727" y="277977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C6B78"/>
                </a:solidFill>
                <a:latin typeface="Segoe U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5407" y="3108960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5C6B78"/>
                </a:solidFill>
                <a:latin typeface="Consolas"/>
              </a:rPr>
              <a:t>GATE: drills +
sign-off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6655" y="2395728"/>
            <a:ext cx="2395728" cy="1298448"/>
          </a:xfrm>
          <a:prstGeom prst="roundRect">
            <a:avLst>
              <a:gd name="adj" fmla="val 8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5B46C9"/>
                </a:solidFill>
                <a:latin typeface="Consolas"/>
              </a:rPr>
              <a:t>PHASE C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B46C9"/>
                </a:solidFill>
                <a:latin typeface="Segoe UI"/>
              </a:rPr>
              <a:t>Bench command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16222D"/>
                </a:solidFill>
                <a:latin typeface="Segoe UI"/>
              </a:rPr>
              <a:t>Python drives modes &amp;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16222D"/>
                </a:solidFill>
                <a:latin typeface="Segoe UI"/>
              </a:rPr>
              <a:t>setpoints — no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2383" y="277977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C6B78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8063" y="3108960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5C6B78"/>
                </a:solidFill>
                <a:latin typeface="Consolas"/>
              </a:rPr>
              <a:t>GATE: drills +
sign-off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9311" y="2395728"/>
            <a:ext cx="2395728" cy="1298448"/>
          </a:xfrm>
          <a:prstGeom prst="roundRect">
            <a:avLst>
              <a:gd name="adj" fmla="val 8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5B46C9"/>
                </a:solidFill>
                <a:latin typeface="Consolas"/>
              </a:rPr>
              <a:t>PHASE D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5B46C9"/>
                </a:solidFill>
                <a:latin typeface="Segoe UI"/>
              </a:rPr>
              <a:t>Procedures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16222D"/>
                </a:solidFill>
                <a:latin typeface="Segoe UI"/>
              </a:rPr>
              <a:t>automated sequences from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16222D"/>
                </a:solidFill>
                <a:latin typeface="Segoe UI"/>
              </a:rPr>
              <a:t>the team’s written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5039" y="2779776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C6B78"/>
                </a:solidFill>
                <a:latin typeface="Segoe U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0719" y="3108960"/>
            <a:ext cx="11155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750" b="0">
                <a:solidFill>
                  <a:srgbClr val="5C6B78"/>
                </a:solidFill>
                <a:latin typeface="Consolas"/>
              </a:rPr>
              <a:t>GATE: drills +
sign-off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1967" y="2395728"/>
            <a:ext cx="2395728" cy="1298448"/>
          </a:xfrm>
          <a:prstGeom prst="roundRect">
            <a:avLst>
              <a:gd name="adj" fmla="val 8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"/>
              </a:spcAft>
            </a:pPr>
            <a:r>
              <a:rPr sz="900" b="0">
                <a:solidFill>
                  <a:srgbClr val="0E767E"/>
                </a:solidFill>
                <a:latin typeface="Consolas"/>
              </a:rPr>
              <a:t>PHASE E</a:t>
            </a:r>
          </a:p>
          <a:p>
            <a:pPr algn="ctr">
              <a:spcAft>
                <a:spcPts val="100"/>
              </a:spcAft>
            </a:pPr>
            <a:r>
              <a:rPr sz="1500" b="1">
                <a:solidFill>
                  <a:srgbClr val="0E767E"/>
                </a:solidFill>
                <a:latin typeface="Segoe UI"/>
              </a:rPr>
              <a:t>Commissioning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16222D"/>
                </a:solidFill>
                <a:latin typeface="Segoe UI"/>
              </a:rPr>
              <a:t>sequences drive cold flow</a:t>
            </a:r>
          </a:p>
          <a:p>
            <a:pPr algn="ctr">
              <a:spcAft>
                <a:spcPts val="100"/>
              </a:spcAft>
            </a:pPr>
            <a:r>
              <a:rPr sz="950" b="0">
                <a:solidFill>
                  <a:srgbClr val="16222D"/>
                </a:solidFill>
                <a:latin typeface="Segoe UI"/>
              </a:rPr>
              <a:t>→ motoring → first fire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86783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THE NEAR-TERM WORK, IN THREE NUMBERS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15968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315968"/>
            <a:ext cx="64008" cy="1691640"/>
          </a:xfrm>
          <a:prstGeom prst="rect">
            <a:avLst/>
          </a:prstGeom>
          <a:solidFill>
            <a:srgbClr val="B45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4425696"/>
            <a:ext cx="3088538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B45B0E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882896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90">
                <a:solidFill>
                  <a:srgbClr val="5C6B78"/>
                </a:solidFill>
                <a:latin typeface="Consolas"/>
              </a:rPr>
              <a:t>LABVIEW BUILD LEFT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184648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6222D"/>
                </a:solidFill>
                <a:latin typeface="Segoe UI"/>
              </a:rPr>
              <a:t>the gateway write path (B3) — the only build between shadow mode and Python’s first commands; specified click-by-click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2978" y="4315968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22978" y="4315968"/>
            <a:ext cx="64008" cy="1691640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9010" y="4425696"/>
            <a:ext cx="3088538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5B46C9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9010" y="4882896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90">
                <a:solidFill>
                  <a:srgbClr val="5C6B78"/>
                </a:solidFill>
                <a:latin typeface="Consolas"/>
              </a:rPr>
              <a:t>FAILURE DRILLS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9010" y="5184648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6222D"/>
                </a:solidFill>
                <a:latin typeface="Segoe UI"/>
              </a:rPr>
              <a:t>we break the link every way we can think of, live — every failure must end in a rejection or a safe hold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3036" y="4315968"/>
            <a:ext cx="3545738" cy="1691640"/>
          </a:xfrm>
          <a:prstGeom prst="roundRect">
            <a:avLst>
              <a:gd name="adj" fmla="val 6000"/>
            </a:avLst>
          </a:prstGeom>
          <a:solidFill>
            <a:srgbClr val="FAFBFC"/>
          </a:solidFill>
          <a:ln w="12700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3036" y="4315968"/>
            <a:ext cx="64008" cy="1691640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9068" y="4425696"/>
            <a:ext cx="3088538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E767E"/>
                </a:solidFill>
                <a:latin typeface="Segoe U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9068" y="4882896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90">
                <a:solidFill>
                  <a:srgbClr val="5C6B78"/>
                </a:solidFill>
                <a:latin typeface="Consolas"/>
              </a:rPr>
              <a:t>AUTHORITY UNTIL THEN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9068" y="5184648"/>
            <a:ext cx="308853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6222D"/>
                </a:solidFill>
                <a:latin typeface="Segoe UI"/>
              </a:rPr>
              <a:t>Python’s writes stay ignored (source switch on UI) until every drill passes and the team signs 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30936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222D"/>
                </a:solidFill>
                <a:latin typeface="Segoe UI"/>
              </a:rPr>
              <a:t>Head start:  </a:t>
            </a:r>
            <a:r>
              <a:rPr sz="1150" b="0">
                <a:solidFill>
                  <a:srgbClr val="5C6B78"/>
                </a:solidFill>
                <a:latin typeface="Segoe UI"/>
              </a:rPr>
              <a:t>the Python software for every phase — commander, operator tools, sequencing engine, warning rules — is already written and tested. The near-term work is LabVIEW wiring, bench drills, and team decisions.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WHAT’S NEXT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One LabVIEW build between shadow and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Today the gateway only </a:t>
            </a:r>
            <a:r>
              <a:rPr sz="1350" b="1">
                <a:solidFill>
                  <a:srgbClr val="16222D"/>
                </a:solidFill>
                <a:latin typeface="Segoe UI"/>
              </a:rPr>
              <a:t>reads</a:t>
            </a:r>
            <a:r>
              <a:rPr sz="1350" b="0">
                <a:solidFill>
                  <a:srgbClr val="5C6B78"/>
                </a:solidFill>
                <a:latin typeface="Segoe UI"/>
              </a:rPr>
              <a:t> — it streams telemetry and politely acknowledges commands without acting. B3 teaches it to accept Python’s requests, with LabVIEW still validating every one, and a physical operator switch choosing who is in command.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349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WHAT GETS BUILT (3 SMALL PIECES)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505456"/>
            <a:ext cx="53492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670048"/>
            <a:ext cx="5349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1">
                <a:solidFill>
                  <a:srgbClr val="16222D"/>
                </a:solidFill>
                <a:latin typeface="Segoe UI"/>
              </a:rPr>
              <a:t>Two new shared variables</a:t>
            </a:r>
            <a:r>
              <a:rPr sz="1250" b="0">
                <a:solidFill>
                  <a:srgbClr val="16222D"/>
                </a:solidFill>
                <a:latin typeface="Segoe UI"/>
              </a:rPr>
              <a:t> — a place for the operator’s inputs while Python is in command, and a UI / PYTHON source switch that </a:t>
            </a:r>
            <a:r>
              <a:rPr sz="1250" b="1">
                <a:solidFill>
                  <a:srgbClr val="16222D"/>
                </a:solidFill>
                <a:latin typeface="Segoe UI"/>
              </a:rPr>
              <a:t>defaults to UI</a:t>
            </a:r>
            <a:r>
              <a:rPr sz="1250" b="0">
                <a:solidFill>
                  <a:srgbClr val="16222D"/>
                </a:solidFill>
                <a:latin typeface="Segoe UI"/>
              </a:rPr>
              <a:t>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1">
                <a:solidFill>
                  <a:srgbClr val="16222D"/>
                </a:solidFill>
                <a:latin typeface="Segoe UI"/>
              </a:rPr>
              <a:t>The gateway command branch</a:t>
            </a:r>
            <a:r>
              <a:rPr sz="1250" b="0">
                <a:solidFill>
                  <a:srgbClr val="16222D"/>
                </a:solidFill>
                <a:latin typeface="Segoe UI"/>
              </a:rPr>
              <a:t> — parse each request, run a </a:t>
            </a:r>
            <a:r>
              <a:rPr sz="1250" b="1">
                <a:solidFill>
                  <a:srgbClr val="16222D"/>
                </a:solidFill>
                <a:latin typeface="Segoe UI"/>
              </a:rPr>
              <a:t>6-check validation ladder</a:t>
            </a:r>
            <a:r>
              <a:rPr sz="1250" b="0">
                <a:solidFill>
                  <a:srgbClr val="16222D"/>
                </a:solidFill>
                <a:latin typeface="Segoe UI"/>
              </a:rPr>
              <a:t> (right command? within rate? right source? parses? in range? not clearing an e-stop?), then write — or reject with a stated reason.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1">
                <a:solidFill>
                  <a:srgbClr val="16222D"/>
                </a:solidFill>
                <a:latin typeface="Segoe UI"/>
              </a:rPr>
              <a:t>The HMI switch + single-writer rule</a:t>
            </a:r>
            <a:r>
              <a:rPr sz="1250" b="0">
                <a:solidFill>
                  <a:srgbClr val="16222D"/>
                </a:solidFill>
                <a:latin typeface="Segoe UI"/>
              </a:rPr>
              <a:t> — exactly one writer of the control settings at any moment; the operator owns the switch, and only the operator.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349240"/>
            <a:ext cx="5349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READY TO START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5641848"/>
            <a:ext cx="53492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" y="5769864"/>
            <a:ext cx="5349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C914F"/>
                </a:solidFill>
                <a:latin typeface="Segoe UI"/>
              </a:rPr>
              <a:t>▪  </a:t>
            </a:r>
            <a:r>
              <a:rPr sz="1150" b="0">
                <a:solidFill>
                  <a:srgbClr val="16222D"/>
                </a:solidFill>
                <a:latin typeface="Segoe UI"/>
              </a:rPr>
              <a:t>Interface spec frozen with the team (ICD v0.2).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C914F"/>
                </a:solidFill>
                <a:latin typeface="Segoe UI"/>
              </a:rPr>
              <a:t>▪  </a:t>
            </a:r>
            <a:r>
              <a:rPr sz="1150" b="0">
                <a:solidFill>
                  <a:srgbClr val="16222D"/>
                </a:solidFill>
                <a:latin typeface="Segoe UI"/>
              </a:rPr>
              <a:t>Python + simulator sides built; 13 failure tests green.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>
                <a:solidFill>
                  <a:srgbClr val="1C914F"/>
                </a:solidFill>
                <a:latin typeface="Segoe UI"/>
              </a:rPr>
              <a:t>▪  </a:t>
            </a:r>
            <a:r>
              <a:rPr sz="1150" b="0">
                <a:solidFill>
                  <a:srgbClr val="16222D"/>
                </a:solidFill>
                <a:latin typeface="Segoe UI"/>
              </a:rPr>
              <a:t>Every LabVIEW step written up node-by-node, ~half a 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12848"/>
            <a:ext cx="5422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WHO WRITES, IN EACH MODE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63640" y="2505456"/>
            <a:ext cx="542239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2651760"/>
            <a:ext cx="5056631" cy="1170432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9944" y="2779776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E767E"/>
                </a:solidFill>
                <a:latin typeface="Consolas"/>
              </a:rPr>
              <a:t>SOURCE = UI  (DEFAULT)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145536"/>
            <a:ext cx="4690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E767E"/>
                </a:solidFill>
                <a:latin typeface="Segoe UI"/>
              </a:rPr>
              <a:t>Operator UI </a:t>
            </a:r>
            <a:r>
              <a:rPr sz="1100" b="0">
                <a:solidFill>
                  <a:srgbClr val="16222D"/>
                </a:solidFill>
                <a:latin typeface="Segoe UI"/>
              </a:rPr>
              <a:t>→ writes the control settings, exactly as today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5B46C9"/>
                </a:solidFill>
                <a:latin typeface="Segoe UI"/>
              </a:rPr>
              <a:t>Python </a:t>
            </a:r>
            <a:r>
              <a:rPr sz="1100" b="0">
                <a:solidFill>
                  <a:srgbClr val="16222D"/>
                </a:solidFill>
                <a:latin typeface="Segoe UI"/>
              </a:rPr>
              <a:t>→ every command rejected: “source is UI”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950208"/>
            <a:ext cx="5056631" cy="1170432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9944" y="4078224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B46C9"/>
                </a:solidFill>
                <a:latin typeface="Consolas"/>
              </a:rPr>
              <a:t>SOURCE =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443984"/>
            <a:ext cx="46908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5B46C9"/>
                </a:solidFill>
                <a:latin typeface="Segoe UI"/>
              </a:rPr>
              <a:t>Python </a:t>
            </a:r>
            <a:r>
              <a:rPr sz="1100" b="0">
                <a:solidFill>
                  <a:srgbClr val="16222D"/>
                </a:solidFill>
                <a:latin typeface="Segoe UI"/>
              </a:rPr>
              <a:t>→ validated commands write the control settings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E767E"/>
                </a:solidFill>
                <a:latin typeface="Segoe UI"/>
              </a:rPr>
              <a:t>Operator UI </a:t>
            </a:r>
            <a:r>
              <a:rPr sz="1100" b="0">
                <a:solidFill>
                  <a:srgbClr val="16222D"/>
                </a:solidFill>
                <a:latin typeface="Segoe UI"/>
              </a:rPr>
              <a:t>→ inputs become requests that Python reads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303520"/>
            <a:ext cx="51480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6222D"/>
                </a:solidFill>
                <a:latin typeface="Segoe UI"/>
              </a:rPr>
              <a:t>Either way:  </a:t>
            </a:r>
            <a:r>
              <a:rPr sz="1100" b="0">
                <a:solidFill>
                  <a:srgbClr val="5C6B78"/>
                </a:solidFill>
                <a:latin typeface="Segoe UI"/>
              </a:rPr>
              <a:t>the 9056 state machine consumes the same variable and keeps clamping everything — the LabVIEW limiter never leaves the loop. And e-stop works from every surface, in every mode.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WHAT’S NEXT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Nothing gets authority until it fails safely: 7 drills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Before Python may command anything real, we try to break the link every way we can think of — </a:t>
            </a:r>
            <a:r>
              <a:rPr sz="1350" b="1">
                <a:solidFill>
                  <a:srgbClr val="16222D"/>
                </a:solidFill>
                <a:latin typeface="Segoe UI"/>
              </a:rPr>
              <a:t>live on the bench</a:t>
            </a:r>
            <a:r>
              <a:rPr sz="1350" b="0">
                <a:solidFill>
                  <a:srgbClr val="5C6B78"/>
                </a:solidFill>
                <a:latin typeface="Segoe UI"/>
              </a:rPr>
              <a:t>. Every failure must end the same two ways: a rejected request, or a safe hold. No exceptions, repeatably, witnessed.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12848"/>
            <a:ext cx="5455767" cy="804672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2340864"/>
            <a:ext cx="347472" cy="347472"/>
          </a:xfrm>
          <a:prstGeom prst="ellipse">
            <a:avLst/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5B0E"/>
                </a:solidFill>
                <a:latin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304288"/>
            <a:ext cx="46785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Segoe UI"/>
              </a:rPr>
              <a:t>Kill Python mid-command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2578608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C6B78"/>
                </a:solidFill>
                <a:latin typeface="Segoe UI"/>
              </a:rPr>
              <a:t>cRIO clamps to SAFE within 5 s — the watchdog we just wired, re-proven through the full command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212848"/>
            <a:ext cx="5455767" cy="804672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61023" y="2340864"/>
            <a:ext cx="347472" cy="347472"/>
          </a:xfrm>
          <a:prstGeom prst="ellipse">
            <a:avLst/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5B0E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6511" y="2304288"/>
            <a:ext cx="46785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Segoe UI"/>
              </a:rPr>
              <a:t>Pull the network cable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6511" y="2578608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C6B78"/>
                </a:solidFill>
                <a:latin typeface="Segoe UI"/>
              </a:rPr>
              <a:t>same safe hold; the link re-establishes itself cleanly when the cable returns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08960"/>
            <a:ext cx="5455767" cy="804672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" y="3236976"/>
            <a:ext cx="347472" cy="347472"/>
          </a:xfrm>
          <a:prstGeom prst="ellipse">
            <a:avLst/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5B0E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3200400"/>
            <a:ext cx="46785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Segoe UI"/>
              </a:rPr>
              <a:t>Freeze the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" y="347472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C6B78"/>
                </a:solidFill>
                <a:latin typeface="Segoe UI"/>
              </a:rPr>
              <a:t>heartbeat stops changing while the socket stays up — watchdog still trips → SAFE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108960"/>
            <a:ext cx="5455767" cy="804672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1023" y="3236976"/>
            <a:ext cx="347472" cy="347472"/>
          </a:xfrm>
          <a:prstGeom prst="ellipse">
            <a:avLst/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5B0E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6511" y="3200400"/>
            <a:ext cx="46785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Segoe UI"/>
              </a:rPr>
              <a:t>Send garbage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6511" y="3474720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C6B78"/>
                </a:solidFill>
                <a:latin typeface="Segoe UI"/>
              </a:rPr>
              <a:t>malformed JSON is rejected with a reason; the connection survives and keeps serving telemetry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005072"/>
            <a:ext cx="5455767" cy="804672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936" y="4133087"/>
            <a:ext cx="347472" cy="347472"/>
          </a:xfrm>
          <a:prstGeom prst="ellipse">
            <a:avLst/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5B0E"/>
                </a:solidFill>
                <a:latin typeface="Consola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" y="4096511"/>
            <a:ext cx="46785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Segoe UI"/>
              </a:rPr>
              <a:t>Flood commands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" y="4370832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C6B78"/>
                </a:solidFill>
                <a:latin typeface="Segoe UI"/>
              </a:rPr>
              <a:t>more than 5 per second → rate limit trips, excess rejected — no queue, no lag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4005072"/>
            <a:ext cx="5455767" cy="804672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1023" y="4133087"/>
            <a:ext cx="347472" cy="347472"/>
          </a:xfrm>
          <a:prstGeom prst="ellipse">
            <a:avLst/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5B0E"/>
                </a:solidFill>
                <a:latin typeface="Consola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6511" y="4096511"/>
            <a:ext cx="46785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Segoe UI"/>
              </a:rPr>
              <a:t>Flip the source mid-run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6511" y="4370832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C6B78"/>
                </a:solidFill>
                <a:latin typeface="Segoe UI"/>
              </a:rPr>
              <a:t>UI ↔ Python handover is bumpless — values match before the switch, nothing jumps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01183"/>
            <a:ext cx="5455767" cy="804672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0936" y="5029199"/>
            <a:ext cx="347472" cy="347472"/>
          </a:xfrm>
          <a:prstGeom prst="ellipse">
            <a:avLst/>
          </a:prstGeom>
          <a:solidFill>
            <a:srgbClr val="FBF0E2"/>
          </a:solidFill>
          <a:ln w="12700">
            <a:solidFill>
              <a:srgbClr val="F0DD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45B0E"/>
                </a:solidFill>
                <a:latin typeface="Consola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" y="4992623"/>
            <a:ext cx="46785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222D"/>
                </a:solidFill>
                <a:latin typeface="Segoe UI"/>
              </a:rPr>
              <a:t>E-stop vs Python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" y="5266944"/>
            <a:ext cx="467852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C6B78"/>
                </a:solidFill>
                <a:latin typeface="Segoe UI"/>
              </a:rPr>
              <a:t>e-stop from any surface always wins and latches; Python can request it but can never clear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33007" y="4901183"/>
            <a:ext cx="5455767" cy="804672"/>
          </a:xfrm>
          <a:prstGeom prst="roundRect">
            <a:avLst>
              <a:gd name="adj" fmla="val 1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5887" y="4992623"/>
            <a:ext cx="509000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914F"/>
                </a:solidFill>
                <a:latin typeface="Segoe UI"/>
              </a:rPr>
              <a:t>✔  PASS = </a:t>
            </a:r>
            <a:r>
              <a:rPr sz="1200" b="1">
                <a:solidFill>
                  <a:srgbClr val="16222D"/>
                </a:solidFill>
                <a:latin typeface="Segoe UI"/>
              </a:rPr>
              <a:t>all seven, repeatably,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5887" y="5266944"/>
            <a:ext cx="509000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C6B78"/>
                </a:solidFill>
                <a:latin typeface="Segoe UI"/>
              </a:rPr>
              <a:t>command → acknowledged → effect confirmed in telemetry; then joint sign-off closes Phase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852159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16222D"/>
                </a:solidFill>
                <a:latin typeface="Segoe UI"/>
              </a:rPr>
              <a:t>Why so much ceremony:  </a:t>
            </a:r>
            <a:r>
              <a:rPr sz="1150" b="0">
                <a:solidFill>
                  <a:srgbClr val="5C6B78"/>
                </a:solidFill>
                <a:latin typeface="Segoe UI"/>
              </a:rPr>
              <a:t>this gate is the safety case. It demonstrates — not argues — that a dead, hung, or misbehaving Python can only ever cause a rejected request or a safe 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WHAT’S NEXT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Then Python takes the bench — supervised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Phase C makes Python the </a:t>
            </a:r>
            <a:r>
              <a:rPr sz="1350" b="1">
                <a:solidFill>
                  <a:srgbClr val="16222D"/>
                </a:solidFill>
                <a:latin typeface="Segoe UI"/>
              </a:rPr>
              <a:t>acting supervisor</a:t>
            </a:r>
            <a:r>
              <a:rPr sz="1350" b="0">
                <a:solidFill>
                  <a:srgbClr val="5C6B78"/>
                </a:solidFill>
                <a:latin typeface="Segoe UI"/>
              </a:rPr>
              <a:t> for bench operation — real authority against the real controllers, no engine hardware — while the LabVIEW clamp stays permanently underneath and the operator keeps an instant way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12848"/>
            <a:ext cx="5349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WHAT CHANGES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505456"/>
            <a:ext cx="53492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2670048"/>
            <a:ext cx="5349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Python drives </a:t>
            </a:r>
            <a:r>
              <a:rPr sz="1250" b="1">
                <a:solidFill>
                  <a:srgbClr val="16222D"/>
                </a:solidFill>
                <a:latin typeface="Segoe UI"/>
              </a:rPr>
              <a:t>mode requests and setpoints</a:t>
            </a:r>
            <a:r>
              <a:rPr sz="1250" b="0">
                <a:solidFill>
                  <a:srgbClr val="16222D"/>
                </a:solidFill>
                <a:latin typeface="Segoe UI"/>
              </a:rPr>
              <a:t> once per second through the command path Phase B just proved.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The operator keeps the LabVIEW HMI: </a:t>
            </a:r>
            <a:r>
              <a:rPr sz="1250" b="1">
                <a:solidFill>
                  <a:srgbClr val="16222D"/>
                </a:solidFill>
                <a:latin typeface="Segoe UI"/>
              </a:rPr>
              <a:t>monitoring, e-stop, and the source switch</a:t>
            </a:r>
            <a:r>
              <a:rPr sz="1250" b="0">
                <a:solidFill>
                  <a:srgbClr val="16222D"/>
                </a:solidFill>
                <a:latin typeface="Segoe UI"/>
              </a:rPr>
              <a:t> — one flip hands control back to the UI, bumplessly.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0">
                <a:solidFill>
                  <a:srgbClr val="16222D"/>
                </a:solidFill>
                <a:latin typeface="Segoe UI"/>
              </a:rPr>
              <a:t>The shadow comparison now runs </a:t>
            </a:r>
            <a:r>
              <a:rPr sz="1250" b="1">
                <a:solidFill>
                  <a:srgbClr val="16222D"/>
                </a:solidFill>
                <a:latin typeface="Segoe UI"/>
              </a:rPr>
              <a:t>in reverse</a:t>
            </a:r>
            <a:r>
              <a:rPr sz="1250" b="0">
                <a:solidFill>
                  <a:srgbClr val="16222D"/>
                </a:solidFill>
                <a:latin typeface="Segoe UI"/>
              </a:rPr>
              <a:t>: Python predicts what the LabVIEW limiter will allow, and any disagreement raises an alarm immediately.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212848"/>
            <a:ext cx="5422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HOW WE’LL KNOW IT WORKS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63640" y="2505456"/>
            <a:ext cx="542239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63640" y="2670048"/>
            <a:ext cx="54223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1">
                <a:solidFill>
                  <a:srgbClr val="16222D"/>
                </a:solidFill>
                <a:latin typeface="Segoe UI"/>
              </a:rPr>
              <a:t>Soak runs</a:t>
            </a:r>
            <a:r>
              <a:rPr sz="1250" b="0">
                <a:solidFill>
                  <a:srgbClr val="16222D"/>
                </a:solidFill>
                <a:latin typeface="Segoe UI"/>
              </a:rPr>
              <a:t>: hours-long bench sessions with faults injected on purpose — no drift, no resource leaks, clean reconnects every time.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E767E"/>
                </a:solidFill>
                <a:latin typeface="Segoe UI"/>
              </a:rPr>
              <a:t>▪  </a:t>
            </a:r>
            <a:r>
              <a:rPr sz="1250" b="1">
                <a:solidFill>
                  <a:srgbClr val="16222D"/>
                </a:solidFill>
                <a:latin typeface="Segoe UI"/>
              </a:rPr>
              <a:t>Exit test</a:t>
            </a:r>
            <a:r>
              <a:rPr sz="1250" b="0">
                <a:solidFill>
                  <a:srgbClr val="16222D"/>
                </a:solidFill>
                <a:latin typeface="Segoe UI"/>
              </a:rPr>
              <a:t>: one scripted session — mode walks, setpoint changes, forced warnings, e-stop, kill-Python-and-recover — runs </a:t>
            </a:r>
            <a:r>
              <a:rPr sz="1250" b="1">
                <a:solidFill>
                  <a:srgbClr val="16222D"/>
                </a:solidFill>
                <a:latin typeface="Segoe UI"/>
              </a:rPr>
              <a:t>entirely under Python command</a:t>
            </a:r>
            <a:r>
              <a:rPr sz="1250" b="0">
                <a:solidFill>
                  <a:srgbClr val="16222D"/>
                </a:solidFill>
                <a:latin typeface="Segoe UI"/>
              </a:rPr>
              <a:t> with zero unsafe outcomes and zero unexplained limiter divergences.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" y="4892040"/>
            <a:ext cx="11185855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" y="5047488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WHY THIS PHASE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40096"/>
            <a:ext cx="11185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>
                <a:solidFill>
                  <a:srgbClr val="16222D"/>
                </a:solidFill>
                <a:latin typeface="Segoe UI"/>
              </a:rPr>
              <a:t>It converts trust from theory to track record. </a:t>
            </a:r>
            <a:r>
              <a:rPr sz="1250" b="0">
                <a:solidFill>
                  <a:srgbClr val="5C6B78"/>
                </a:solidFill>
                <a:latin typeface="Segoe UI"/>
              </a:rPr>
              <a:t>Shadow mode proved the decisions; Phase B proves the failure modes; Phase C accumulates supervised operating hours. By the time automated sequences arrive (Phase D), Python isn’t a new component anymore — it’s the supervisor the bench has already been running under.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9601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 · WHAT’S NEXT · 2026-07-07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91495" y="27432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C6B78"/>
                </a:solidFill>
                <a:latin typeface="Consolas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6222D"/>
                </a:solidFill>
                <a:latin typeface="Segoe UI"/>
              </a:rPr>
              <a:t>What we need from the team — and where this lands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6035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INPUTS THAT UNBLOCK THE NEXT PHASES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1801368"/>
            <a:ext cx="60350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1965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67E"/>
                </a:solidFill>
                <a:latin typeface="Segoe UI"/>
              </a:rPr>
              <a:t>▪  </a:t>
            </a:r>
            <a:r>
              <a:rPr sz="1300" b="1">
                <a:solidFill>
                  <a:srgbClr val="16222D"/>
                </a:solidFill>
                <a:latin typeface="Segoe UI"/>
              </a:rPr>
              <a:t>Operating-procedure sheets (blocks Phase 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5806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C6B78"/>
                </a:solidFill>
                <a:latin typeface="Segoe UI"/>
              </a:rPr>
              <a:t>cold start, purge, motoring → light-off, shutdown, vent &amp; recovery, misfire recovery — as informal notes or the template sheets; they become tested, automated sequences. This is the critical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72968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67E"/>
                </a:solidFill>
                <a:latin typeface="Segoe UI"/>
              </a:rPr>
              <a:t>▪  </a:t>
            </a:r>
            <a:r>
              <a:rPr sz="1300" b="1">
                <a:solidFill>
                  <a:srgbClr val="16222D"/>
                </a:solidFill>
                <a:latin typeface="Segoe UI"/>
              </a:rPr>
              <a:t>Real numbers (blocks Phase 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65575"/>
            <a:ext cx="5806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C6B78"/>
                </a:solidFill>
                <a:latin typeface="Segoe UI"/>
              </a:rPr>
              <a:t>warning thresholds and time windows (“X low for Y s in state Z ⇒ act”) and operating-point tables — the engines are built and waiting for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79976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767E"/>
                </a:solidFill>
                <a:latin typeface="Segoe UI"/>
              </a:rPr>
              <a:t>▪  </a:t>
            </a:r>
            <a:r>
              <a:rPr sz="1300" b="1">
                <a:solidFill>
                  <a:srgbClr val="16222D"/>
                </a:solidFill>
                <a:latin typeface="Segoe UI"/>
              </a:rPr>
              <a:t>Two joint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72584"/>
            <a:ext cx="5806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C6B78"/>
                </a:solidFill>
                <a:latin typeface="Segoe UI"/>
              </a:rPr>
              <a:t>where the UI / PYTHON switch lives on the HMI, and the sign-off review at each authority gate (B exit is the first).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508760"/>
            <a:ext cx="4690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THE DESTINATION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95160" y="1801368"/>
            <a:ext cx="469087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95160" y="1965960"/>
            <a:ext cx="4599432" cy="1078992"/>
          </a:xfrm>
          <a:prstGeom prst="roundRect">
            <a:avLst>
              <a:gd name="adj" fmla="val 10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075688"/>
            <a:ext cx="4233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46C9"/>
                </a:solidFill>
                <a:latin typeface="Segoe UI"/>
              </a:rPr>
              <a:t>Sequences drive commissioning itself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368296"/>
            <a:ext cx="4233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6222D"/>
                </a:solidFill>
                <a:latin typeface="Segoe UI"/>
              </a:rPr>
              <a:t>cold flow → motoring → first fire, each step a written, tested, repeatable procedure — not a one-off manual 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3172968"/>
            <a:ext cx="4599432" cy="1078992"/>
          </a:xfrm>
          <a:prstGeom prst="roundRect">
            <a:avLst>
              <a:gd name="adj" fmla="val 10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282696"/>
            <a:ext cx="4233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E767E"/>
                </a:solidFill>
                <a:latin typeface="Segoe UI"/>
              </a:rPr>
              <a:t>Non-combustion sequences go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575303"/>
            <a:ext cx="4233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6222D"/>
                </a:solidFill>
                <a:latin typeface="Segoe UI"/>
              </a:rPr>
              <a:t>venting, purge, working-fluid checks, thermal warm-up — already drafted, and exactly what commissioning needs earliest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4379976"/>
            <a:ext cx="4599432" cy="1078992"/>
          </a:xfrm>
          <a:prstGeom prst="roundRect">
            <a:avLst>
              <a:gd name="adj" fmla="val 1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4489704"/>
            <a:ext cx="4233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914F"/>
                </a:solidFill>
                <a:latin typeface="Segoe UI"/>
              </a:rPr>
              <a:t>Every capability earns its place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782312"/>
            <a:ext cx="423367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6222D"/>
                </a:solidFill>
                <a:latin typeface="Segoe UI"/>
              </a:rPr>
              <a:t>nothing is unlocked until its bench drill passes — the same rule from day one, all the way 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806440"/>
            <a:ext cx="11185855" cy="658368"/>
          </a:xfrm>
          <a:prstGeom prst="roundRect">
            <a:avLst>
              <a:gd name="adj" fmla="val 10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/>
          <a:lstStyle/>
          <a:p>
            <a:pPr algn="ctr"/>
            <a:r>
              <a:rPr sz="1150" b="1">
                <a:solidFill>
                  <a:srgbClr val="0E767E"/>
                </a:solidFill>
                <a:latin typeface="Segoe UI"/>
              </a:rPr>
              <a:t>The rule that never changes:  </a:t>
            </a:r>
            <a:r>
              <a:rPr sz="1150" b="0">
                <a:solidFill>
                  <a:srgbClr val="16222D"/>
                </a:solidFill>
                <a:latin typeface="Segoe UI"/>
              </a:rPr>
              <a:t>LabVIEW/cRIO keeps the hardware, the interlocks and the safe fallback — permanently, through every phase on this roadmap. Python only ever asks; LabVIEW checks every request; if Python disappears, the system safe-holds.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