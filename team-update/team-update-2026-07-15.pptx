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0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1F4A2-AAE0-43C3-9004-753CDE6CC9A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CEB3E-2842-4304-801C-79D1FBD9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7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96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8EBB-F027-CD3D-1A54-A0450085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AEC42-F5C6-E6B1-CD53-24BD88523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665B0-97E4-D475-462B-F63AE05D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06486-6717-FF74-72FC-9DB5AF69D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3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B59A-3763-EE25-BA60-335F56EE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937EF-4498-ED80-1BF2-5610CEC3E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7DBB5-2F5A-900B-6E32-2DEC1120B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6886-ABAD-8D32-3A2C-18C6D3620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6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CD53-3936-FBD5-553C-CB04BC91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DB3A5-08F3-B338-D5F0-BEA08A428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C4711-0BAA-32C7-3CF0-E3AD5B392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576F1-5BEE-56A4-F26C-46B2EBBD7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82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82D7-6B07-66B7-FA93-CFCE1858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0C146-473B-5927-E753-CC9D74A31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AB61F-0E99-1396-B177-DE299C2BB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2E6A6-E2BE-3031-1D2E-1F9EE392E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3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3BA4-DA9D-34CB-EDC4-011E421B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DF870-09C4-7E25-E195-028B11C7C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3F18B-CF09-3FD9-73A3-7C6382CDB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B9A87-EE24-9922-462B-4A669260B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22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BBA3-28E3-1E73-FD4A-45B5B21B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9D145-6C0F-1F09-8C29-E8B2662E6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FACBA-0083-A581-4A34-C1DAB6B6F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A5230-0FCD-0E53-8077-E41576863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0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C9E3-7EAD-B2F3-1CC8-E77A0731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69388-CB96-7E8C-79D0-58BDCE86A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61212-CC34-9DD4-A7D7-CE3531339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4AB38-51DC-25F1-3A5A-3E0CA3844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CEB3E-2842-4304-801C-79D1FBD917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4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dirty="0">
                <a:solidFill>
                  <a:srgbClr val="18211F"/>
                </a:solidFill>
                <a:latin typeface="Segoe UI"/>
              </a:rPr>
              <a:t>The engine's warning protections are now </a:t>
            </a:r>
            <a:r>
              <a:rPr lang="en-US" sz="2900" b="1" dirty="0">
                <a:solidFill>
                  <a:srgbClr val="CF551F"/>
                </a:solidFill>
                <a:latin typeface="Segoe UI"/>
              </a:rPr>
              <a:t>verified</a:t>
            </a:r>
            <a:endParaRPr sz="2900" b="1" dirty="0">
              <a:solidFill>
                <a:srgbClr val="18211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168" y="1419914"/>
            <a:ext cx="11000935" cy="697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6559"/>
                </a:solidFill>
                <a:latin typeface="Segoe UI"/>
              </a:rPr>
              <a:t>V</a:t>
            </a:r>
            <a:r>
              <a:rPr sz="1300" b="0" dirty="0">
                <a:solidFill>
                  <a:srgbClr val="6C6559"/>
                </a:solidFill>
                <a:latin typeface="Segoe UI"/>
              </a:rPr>
              <a:t>irtual crankshaft + synthetic cylinder-pressure playback drove every warning and error in the </a:t>
            </a:r>
            <a:r>
              <a:rPr lang="en-US" sz="1300" b="0" dirty="0">
                <a:solidFill>
                  <a:srgbClr val="6C6559"/>
                </a:solidFill>
                <a:latin typeface="Segoe UI"/>
              </a:rPr>
              <a:t>engine </a:t>
            </a:r>
            <a:r>
              <a:rPr sz="1300" b="0" dirty="0">
                <a:solidFill>
                  <a:srgbClr val="6C6559"/>
                </a:solidFill>
                <a:latin typeface="Segoe UI"/>
              </a:rPr>
              <a:t>safety chain </a:t>
            </a:r>
            <a:r>
              <a:rPr lang="en-US" sz="1300" b="0" dirty="0">
                <a:solidFill>
                  <a:srgbClr val="6C6559"/>
                </a:solidFill>
                <a:latin typeface="Segoe UI"/>
              </a:rPr>
              <a:t>with </a:t>
            </a:r>
            <a:r>
              <a:rPr lang="en-US" sz="1300" dirty="0">
                <a:solidFill>
                  <a:srgbClr val="6C6559"/>
                </a:solidFill>
                <a:latin typeface="Segoe UI"/>
              </a:rPr>
              <a:t>generated</a:t>
            </a:r>
            <a:r>
              <a:rPr sz="1300" b="0" dirty="0">
                <a:solidFill>
                  <a:srgbClr val="6C6559"/>
                </a:solidFill>
                <a:latin typeface="Segoe UI"/>
              </a:rPr>
              <a:t> data</a:t>
            </a:r>
            <a:r>
              <a:rPr lang="en-US" sz="1300" b="0" dirty="0">
                <a:solidFill>
                  <a:srgbClr val="6C6559"/>
                </a:solidFill>
                <a:latin typeface="Segoe U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6559"/>
                </a:solidFill>
                <a:latin typeface="Segoe UI"/>
              </a:rPr>
              <a:t>Several issues detected and fixed along the way.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6C6559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1228" y="2336489"/>
            <a:ext cx="3602736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1228" y="2336489"/>
            <a:ext cx="41148" cy="2880360"/>
          </a:xfrm>
          <a:prstGeom prst="rect">
            <a:avLst/>
          </a:prstGeom>
          <a:solidFill>
            <a:srgbClr val="CF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9828" y="2519369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3C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C8B57"/>
                </a:solidFill>
                <a:latin typeface="Consolas"/>
              </a:rPr>
              <a:t>VERIFIED 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" y="2885129"/>
            <a:ext cx="3200400" cy="1518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8211F"/>
                </a:solidFill>
                <a:latin typeface="Segoe UI"/>
              </a:rPr>
              <a:t>Fault-injection matrix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dirty="0">
                <a:solidFill>
                  <a:srgbClr val="18211F"/>
                </a:solidFill>
                <a:latin typeface="Consolas"/>
              </a:rPr>
              <a:t>7 / 7 </a:t>
            </a:r>
            <a:r>
              <a:rPr sz="2100" b="0" dirty="0">
                <a:solidFill>
                  <a:srgbClr val="938B7C"/>
                </a:solidFill>
                <a:latin typeface="Consolas"/>
              </a:rPr>
              <a:t>trace sets passed</a:t>
            </a:r>
          </a:p>
          <a:p>
            <a:pPr marL="171450" indent="-171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6C6559"/>
                </a:solidFill>
                <a:latin typeface="Segoe UI"/>
              </a:rPr>
              <a:t>Clean baselines all-green;</a:t>
            </a:r>
            <a:endParaRPr lang="en-US" sz="1000" b="0" dirty="0">
              <a:solidFill>
                <a:srgbClr val="6C6559"/>
              </a:solidFill>
              <a:latin typeface="Segoe UI"/>
            </a:endParaRPr>
          </a:p>
          <a:p>
            <a:pPr marL="171450" indent="-171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6C6559"/>
                </a:solidFill>
                <a:latin typeface="Segoe UI"/>
              </a:rPr>
              <a:t>E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ach injected fault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: 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over-pressure, late burn, knock, misfire,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 cycle-to-cycle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 variability</a:t>
            </a:r>
            <a:r>
              <a:rPr lang="en-US" sz="1000" dirty="0">
                <a:solidFill>
                  <a:srgbClr val="6C6559"/>
                </a:solidFill>
                <a:latin typeface="Segoe UI"/>
              </a:rPr>
              <a:t> 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tripped its own flag</a:t>
            </a:r>
            <a:r>
              <a:rPr lang="en-US" sz="1000" dirty="0">
                <a:solidFill>
                  <a:srgbClr val="6C6559"/>
                </a:solidFill>
                <a:latin typeface="Segoe UI"/>
              </a:rPr>
              <a:t>.</a:t>
            </a:r>
            <a:endParaRPr sz="1000" b="0" dirty="0">
              <a:solidFill>
                <a:srgbClr val="6C6559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93692" y="2336489"/>
            <a:ext cx="41148" cy="2880360"/>
          </a:xfrm>
          <a:prstGeom prst="rect">
            <a:avLst/>
          </a:prstGeom>
          <a:solidFill>
            <a:srgbClr val="1C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44568" y="2336489"/>
            <a:ext cx="3602736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44568" y="2336489"/>
            <a:ext cx="41148" cy="2880360"/>
          </a:xfrm>
          <a:prstGeom prst="rect">
            <a:avLst/>
          </a:prstGeom>
          <a:solidFill>
            <a:srgbClr val="3C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73168" y="2519369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1C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1C7E8C"/>
                </a:solidFill>
                <a:latin typeface="Consolas"/>
              </a:rPr>
              <a:t>NEW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885129"/>
            <a:ext cx="3200400" cy="79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8211F"/>
                </a:solidFill>
                <a:latin typeface="Segoe UI"/>
              </a:rPr>
              <a:t>Synthetic pressure</a:t>
            </a:r>
            <a:r>
              <a:rPr lang="en-US" sz="1400" b="1" dirty="0">
                <a:solidFill>
                  <a:srgbClr val="18211F"/>
                </a:solidFill>
                <a:latin typeface="Segoe UI"/>
              </a:rPr>
              <a:t> sets</a:t>
            </a:r>
            <a:endParaRPr sz="1400" b="1" dirty="0">
              <a:solidFill>
                <a:srgbClr val="18211F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6C6559"/>
                </a:solidFill>
                <a:latin typeface="Segoe UI"/>
              </a:rPr>
              <a:t>The CAS loop replays generated pressure sets through the 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LabVIEW pressure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 analytics while the built-in 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EPT 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crank simulator spins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, for</a:t>
            </a:r>
            <a:r>
              <a:rPr sz="1000" b="0" dirty="0">
                <a:solidFill>
                  <a:srgbClr val="6C6559"/>
                </a:solidFill>
                <a:latin typeface="Segoe UI"/>
              </a:rPr>
              <a:t> repeatable fault drill</a:t>
            </a:r>
            <a:r>
              <a:rPr lang="en-US" sz="1000" b="0" dirty="0">
                <a:solidFill>
                  <a:srgbClr val="6C6559"/>
                </a:solidFill>
                <a:latin typeface="Segoe UI"/>
              </a:rPr>
              <a:t>s.</a:t>
            </a:r>
            <a:endParaRPr sz="1000" b="0" dirty="0">
              <a:solidFill>
                <a:srgbClr val="6C6559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4510-F6F2-3920-5479-CB3B80CD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DCDEFF-9ECE-EEFB-3F35-BA02D71B0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9D276-C20C-11E0-79B7-F6EF883EE2CC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5552A-22BC-2044-003A-9CA93331869A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Motoring</a:t>
            </a:r>
            <a:r>
              <a:rPr lang="en-US" sz="2900" b="1" dirty="0">
                <a:solidFill>
                  <a:srgbClr val="18211F"/>
                </a:solidFill>
                <a:latin typeface="Segoe UI"/>
              </a:rPr>
              <a:t> Baseline</a:t>
            </a:r>
            <a:endParaRPr sz="2900" b="1" dirty="0">
              <a:solidFill>
                <a:srgbClr val="18211F"/>
              </a:solidFill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EB2D7-949F-792D-1EB6-856AA1724E91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8A13D-94D5-C043-6719-C3E6EA129C92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A3E774-3088-C9EC-FAFE-8086EC812A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03"/>
          <a:stretch>
            <a:fillRect/>
          </a:stretch>
        </p:blipFill>
        <p:spPr>
          <a:xfrm>
            <a:off x="1863532" y="1395308"/>
            <a:ext cx="8845499" cy="44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0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AEDE-B2CA-D584-7E9E-C607755B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AA7A7-F339-D680-C158-F67053103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BAD73-47E3-CC73-729B-0730A39CBD12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6B0DD-FD77-78BC-2459-C6AFB09141A7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Firing</a:t>
            </a:r>
            <a:r>
              <a:rPr lang="en-US" sz="2900" b="1" dirty="0">
                <a:solidFill>
                  <a:srgbClr val="18211F"/>
                </a:solidFill>
                <a:latin typeface="Segoe UI"/>
              </a:rPr>
              <a:t> Baseline</a:t>
            </a:r>
            <a:endParaRPr sz="2900" b="1" dirty="0">
              <a:solidFill>
                <a:srgbClr val="18211F"/>
              </a:solidFill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D9DCCB-C83D-CABD-8656-806FB1C39A7E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348AB-A988-6684-CF88-4C5D92E69A86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C22AD-99C1-B1D8-07B7-4BFA77BB7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05"/>
          <a:stretch>
            <a:fillRect/>
          </a:stretch>
        </p:blipFill>
        <p:spPr>
          <a:xfrm>
            <a:off x="2154474" y="1447575"/>
            <a:ext cx="8858412" cy="43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0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FF50-F5F9-3EB1-6A78-7674B741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A519F5-4D4B-FA4F-AA36-8FD676C288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B8610-E550-D185-674B-D47D65CC2B59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282F6-D9FC-83A0-CDC3-8CEDEB0418E4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Knocking </a:t>
            </a:r>
            <a:r>
              <a:rPr lang="en-US" sz="2900" b="1" dirty="0">
                <a:latin typeface="Segoe UI"/>
              </a:rPr>
              <a:t>pressure traces</a:t>
            </a:r>
            <a:endParaRPr sz="2900" b="1" dirty="0"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865C5-F845-6605-474A-E60D9FFCFFF6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5853AB-9E34-2F96-4681-1141D00BA7D5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3CDF7-46C6-0562-B144-0C06E3CDC0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0"/>
          <a:stretch>
            <a:fillRect/>
          </a:stretch>
        </p:blipFill>
        <p:spPr>
          <a:xfrm>
            <a:off x="1721183" y="1419914"/>
            <a:ext cx="8749328" cy="446988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17DB09-3EE6-5E32-9A63-9C5E2439A65D}"/>
              </a:ext>
            </a:extLst>
          </p:cNvPr>
          <p:cNvCxnSpPr>
            <a:cxnSpLocks/>
          </p:cNvCxnSpPr>
          <p:nvPr/>
        </p:nvCxnSpPr>
        <p:spPr>
          <a:xfrm flipH="1">
            <a:off x="9557238" y="3313253"/>
            <a:ext cx="1140053" cy="79275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C8C3CB-2A77-5FC4-4E83-00D60FBDA24A}"/>
              </a:ext>
            </a:extLst>
          </p:cNvPr>
          <p:cNvSpPr txBox="1"/>
          <p:nvPr/>
        </p:nvSpPr>
        <p:spPr>
          <a:xfrm>
            <a:off x="10374923" y="2943921"/>
            <a:ext cx="163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Knocking cycles</a:t>
            </a:r>
          </a:p>
        </p:txBody>
      </p:sp>
    </p:spTree>
    <p:extLst>
      <p:ext uri="{BB962C8B-B14F-4D97-AF65-F5344CB8AC3E}">
        <p14:creationId xmlns:p14="http://schemas.microsoft.com/office/powerpoint/2010/main" val="351816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9F1B-FEA0-C8B4-99B8-C29C3EDC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0CEF60-8B9C-EFAE-BD13-31315FE858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82F89-419B-D1A1-1D72-CD26CCF99A19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B3AF8-652E-C313-3524-597F85FAC4FB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Late CA50 </a:t>
            </a:r>
            <a:r>
              <a:rPr lang="en-US" sz="2900" b="1" dirty="0">
                <a:latin typeface="Segoe UI"/>
              </a:rPr>
              <a:t>pressure traces</a:t>
            </a:r>
            <a:endParaRPr sz="2900" b="1" dirty="0"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3AEF3-B7D6-C4A7-AD40-DAEAD372205F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A2A82-6B99-142E-BF35-D411E0E15B0C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A247D-20BB-5A9A-0DE1-A12A26B6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0"/>
          <a:stretch>
            <a:fillRect/>
          </a:stretch>
        </p:blipFill>
        <p:spPr>
          <a:xfrm>
            <a:off x="1786645" y="1464220"/>
            <a:ext cx="8820682" cy="449082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AD8DA0-410E-1BB8-B9A8-427A9E92985E}"/>
              </a:ext>
            </a:extLst>
          </p:cNvPr>
          <p:cNvCxnSpPr>
            <a:cxnSpLocks/>
          </p:cNvCxnSpPr>
          <p:nvPr/>
        </p:nvCxnSpPr>
        <p:spPr>
          <a:xfrm flipH="1" flipV="1">
            <a:off x="7669839" y="5764424"/>
            <a:ext cx="507007" cy="39951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20D1E31-1B36-54F9-8B01-668885B4AC59}"/>
              </a:ext>
            </a:extLst>
          </p:cNvPr>
          <p:cNvSpPr txBox="1"/>
          <p:nvPr/>
        </p:nvSpPr>
        <p:spPr>
          <a:xfrm>
            <a:off x="10207869" y="2141807"/>
            <a:ext cx="17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 combustion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0F2794-4377-27F3-2C6D-CB8341A2C095}"/>
              </a:ext>
            </a:extLst>
          </p:cNvPr>
          <p:cNvCxnSpPr>
            <a:cxnSpLocks/>
          </p:cNvCxnSpPr>
          <p:nvPr/>
        </p:nvCxnSpPr>
        <p:spPr>
          <a:xfrm flipH="1">
            <a:off x="9052560" y="2511139"/>
            <a:ext cx="1379230" cy="61744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CE56D6-61B2-1EAC-5445-AF45C796ABA3}"/>
              </a:ext>
            </a:extLst>
          </p:cNvPr>
          <p:cNvSpPr txBox="1"/>
          <p:nvPr/>
        </p:nvSpPr>
        <p:spPr>
          <a:xfrm>
            <a:off x="8182514" y="5963651"/>
            <a:ext cx="1124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 CA50</a:t>
            </a:r>
          </a:p>
        </p:txBody>
      </p:sp>
    </p:spTree>
    <p:extLst>
      <p:ext uri="{BB962C8B-B14F-4D97-AF65-F5344CB8AC3E}">
        <p14:creationId xmlns:p14="http://schemas.microsoft.com/office/powerpoint/2010/main" val="115776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D787-0190-8A4B-B61A-E5FE74D5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68A83-35F5-4899-28D8-68FA29EF9D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0467D-BCE8-093F-B417-ED1D74BECC93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A0B44-0A09-0753-E4AF-815E04110270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Intermittently misfiring </a:t>
            </a:r>
            <a:r>
              <a:rPr lang="en-US" sz="2900" b="1" dirty="0">
                <a:latin typeface="Segoe UI"/>
              </a:rPr>
              <a:t>pressure traces</a:t>
            </a:r>
            <a:endParaRPr sz="2900" b="1" dirty="0"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20BD5D-6C11-0405-67D6-B49D7EEEFD33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352317-BCF5-C4F4-B085-8C542F0872E2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A4A4D-906E-68FD-E0E2-58669BF44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0"/>
          <a:stretch>
            <a:fillRect/>
          </a:stretch>
        </p:blipFill>
        <p:spPr>
          <a:xfrm>
            <a:off x="1500356" y="1454549"/>
            <a:ext cx="8931434" cy="455758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5AEF23-76B6-C9A7-24E6-24F43608757A}"/>
              </a:ext>
            </a:extLst>
          </p:cNvPr>
          <p:cNvCxnSpPr>
            <a:cxnSpLocks/>
          </p:cNvCxnSpPr>
          <p:nvPr/>
        </p:nvCxnSpPr>
        <p:spPr>
          <a:xfrm flipH="1" flipV="1">
            <a:off x="6268915" y="5486400"/>
            <a:ext cx="407197" cy="60802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6B45903-7E48-6DF0-99B5-C898AA7C2D33}"/>
              </a:ext>
            </a:extLst>
          </p:cNvPr>
          <p:cNvSpPr txBox="1"/>
          <p:nvPr/>
        </p:nvSpPr>
        <p:spPr>
          <a:xfrm>
            <a:off x="6749367" y="6012130"/>
            <a:ext cx="1617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Misfiring cycles</a:t>
            </a:r>
          </a:p>
        </p:txBody>
      </p:sp>
    </p:spTree>
    <p:extLst>
      <p:ext uri="{BB962C8B-B14F-4D97-AF65-F5344CB8AC3E}">
        <p14:creationId xmlns:p14="http://schemas.microsoft.com/office/powerpoint/2010/main" val="291994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E76A-43AD-2251-D6E8-DD979320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DD580-7EB4-4B3E-C2A7-3AACF34EE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9F514-024A-2297-87AE-086F89B00FF0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81470-9F73-0C3F-B058-6B3EB431E1BE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High peak pressure </a:t>
            </a:r>
            <a:r>
              <a:rPr lang="en-US" sz="2900" b="1" dirty="0">
                <a:latin typeface="Segoe UI"/>
              </a:rPr>
              <a:t>traces</a:t>
            </a:r>
            <a:endParaRPr sz="2900" b="1" dirty="0"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134BA-695F-D94C-A513-98BADE760368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224DF-C859-CA8C-0C67-F90BE8F84E9A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32424-646F-5F71-4D31-E47254FDE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0"/>
          <a:stretch>
            <a:fillRect/>
          </a:stretch>
        </p:blipFill>
        <p:spPr>
          <a:xfrm>
            <a:off x="1359763" y="1255322"/>
            <a:ext cx="9126645" cy="464420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C5CC30-238C-E4A2-DED4-B35B53700B73}"/>
              </a:ext>
            </a:extLst>
          </p:cNvPr>
          <p:cNvCxnSpPr>
            <a:cxnSpLocks/>
          </p:cNvCxnSpPr>
          <p:nvPr/>
        </p:nvCxnSpPr>
        <p:spPr>
          <a:xfrm flipH="1">
            <a:off x="8774723" y="1177932"/>
            <a:ext cx="410203" cy="66782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BD70F0-4AEF-14AA-2458-C8CF32E171FB}"/>
              </a:ext>
            </a:extLst>
          </p:cNvPr>
          <p:cNvSpPr txBox="1"/>
          <p:nvPr/>
        </p:nvSpPr>
        <p:spPr>
          <a:xfrm>
            <a:off x="9184926" y="653462"/>
            <a:ext cx="197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peak pressure</a:t>
            </a:r>
          </a:p>
        </p:txBody>
      </p:sp>
    </p:spTree>
    <p:extLst>
      <p:ext uri="{BB962C8B-B14F-4D97-AF65-F5344CB8AC3E}">
        <p14:creationId xmlns:p14="http://schemas.microsoft.com/office/powerpoint/2010/main" val="113496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349E-C29C-AE44-184C-9CA999C1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83B7C-84DD-C911-8654-F986A652AA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7084E-6824-D20A-E5F9-01038FA87650}"/>
              </a:ext>
            </a:extLst>
          </p:cNvPr>
          <p:cNvSpPr txBox="1"/>
          <p:nvPr/>
        </p:nvSpPr>
        <p:spPr>
          <a:xfrm>
            <a:off x="640080" y="38404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938B7C"/>
                </a:solidFill>
                <a:latin typeface="Consolas"/>
              </a:rPr>
              <a:t>◆ MONARCH · APC   /   CONTROLS UPDATE   /   15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6588-E8C6-F86E-9270-6F36B16AD266}"/>
              </a:ext>
            </a:extLst>
          </p:cNvPr>
          <p:cNvSpPr txBox="1"/>
          <p:nvPr/>
        </p:nvSpPr>
        <p:spPr>
          <a:xfrm>
            <a:off x="640080" y="822960"/>
            <a:ext cx="10881360" cy="432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lang="en-US" sz="2900" b="1" dirty="0">
                <a:solidFill>
                  <a:srgbClr val="CF551F"/>
                </a:solidFill>
                <a:latin typeface="Segoe UI"/>
              </a:rPr>
              <a:t>High variability </a:t>
            </a:r>
            <a:r>
              <a:rPr lang="en-US" sz="2900" b="1" dirty="0">
                <a:latin typeface="Segoe UI"/>
              </a:rPr>
              <a:t>pressure traces</a:t>
            </a:r>
            <a:endParaRPr sz="2900" b="1" dirty="0">
              <a:latin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96F1B-C623-4955-9EFE-497B2BB08FC8}"/>
              </a:ext>
            </a:extLst>
          </p:cNvPr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F551F"/>
                </a:solidFill>
                <a:latin typeface="Consolas"/>
              </a:rPr>
              <a:t>◆ </a:t>
            </a:r>
            <a:r>
              <a:rPr sz="900" b="1">
                <a:solidFill>
                  <a:srgbClr val="18211F"/>
                </a:solidFill>
                <a:latin typeface="Consolas"/>
              </a:rPr>
              <a:t>Noble Thermodynamics — Argon Power 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837250-C202-FC59-6A26-62F0BDEC25E1}"/>
              </a:ext>
            </a:extLst>
          </p:cNvPr>
          <p:cNvSpPr txBox="1"/>
          <p:nvPr/>
        </p:nvSpPr>
        <p:spPr>
          <a:xfrm>
            <a:off x="6583680" y="6419088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38B7C"/>
                </a:solidFill>
                <a:latin typeface="Consolas"/>
              </a:rPr>
              <a:t>Python ⇄ LabVIEW </a:t>
            </a:r>
            <a:r>
              <a:rPr lang="en-US" sz="900" dirty="0">
                <a:solidFill>
                  <a:srgbClr val="938B7C"/>
                </a:solidFill>
                <a:latin typeface="Consolas"/>
              </a:rPr>
              <a:t>integration</a:t>
            </a:r>
            <a:r>
              <a:rPr sz="900" b="0" dirty="0">
                <a:solidFill>
                  <a:srgbClr val="938B7C"/>
                </a:solidFill>
                <a:latin typeface="Consolas"/>
              </a:rPr>
              <a:t>· SIL-1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0EA05-9C23-2BF8-FE0F-56EAAFAEEC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00"/>
          <a:stretch>
            <a:fillRect/>
          </a:stretch>
        </p:blipFill>
        <p:spPr>
          <a:xfrm>
            <a:off x="975946" y="1311830"/>
            <a:ext cx="9641635" cy="47787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E74F73-6EBF-2FFB-4E6E-DB474F59EA93}"/>
              </a:ext>
            </a:extLst>
          </p:cNvPr>
          <p:cNvCxnSpPr>
            <a:cxnSpLocks/>
          </p:cNvCxnSpPr>
          <p:nvPr/>
        </p:nvCxnSpPr>
        <p:spPr>
          <a:xfrm flipH="1" flipV="1">
            <a:off x="5796763" y="5546170"/>
            <a:ext cx="1667555" cy="67750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F4E1A8B-857A-9C08-8424-15F900B00EE5}"/>
              </a:ext>
            </a:extLst>
          </p:cNvPr>
          <p:cNvSpPr txBox="1"/>
          <p:nvPr/>
        </p:nvSpPr>
        <p:spPr>
          <a:xfrm>
            <a:off x="5469424" y="6225892"/>
            <a:ext cx="3687228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variability</a:t>
            </a:r>
          </a:p>
          <a:p>
            <a:pPr algn="ctr"/>
            <a:r>
              <a:rPr lang="en-US" sz="1050" dirty="0"/>
              <a:t>Note that, in practice, the variability threshold should be higher.</a:t>
            </a:r>
          </a:p>
        </p:txBody>
      </p:sp>
    </p:spTree>
    <p:extLst>
      <p:ext uri="{BB962C8B-B14F-4D97-AF65-F5344CB8AC3E}">
        <p14:creationId xmlns:p14="http://schemas.microsoft.com/office/powerpoint/2010/main" val="198662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358</Words>
  <Application>Microsoft Office PowerPoint</Application>
  <PresentationFormat>Widescreen</PresentationFormat>
  <Paragraphs>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48</cp:revision>
  <dcterms:created xsi:type="dcterms:W3CDTF">2013-01-27T09:14:16Z</dcterms:created>
  <dcterms:modified xsi:type="dcterms:W3CDTF">2026-07-15T01:35:38Z</dcterms:modified>
  <cp:category/>
</cp:coreProperties>
</file>