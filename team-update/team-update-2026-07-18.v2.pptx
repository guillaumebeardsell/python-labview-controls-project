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2886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68735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dirty="0">
                <a:solidFill>
                  <a:srgbClr val="CF551F"/>
                </a:solidFill>
                <a:latin typeface="Segoe UI"/>
              </a:rPr>
              <a:t>◆ MONARCH · APC</a:t>
            </a:r>
            <a:r>
              <a:rPr sz="1100" b="0" dirty="0">
                <a:solidFill>
                  <a:srgbClr val="6E6558"/>
                </a:solidFill>
                <a:latin typeface="Segoe UI"/>
              </a:rPr>
              <a:t>   /   CONTROLS UPDATE   /   18 JUL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66928"/>
            <a:ext cx="11368735" cy="25400"/>
          </a:xfrm>
          <a:prstGeom prst="rect">
            <a:avLst/>
          </a:prstGeom>
          <a:solidFill>
            <a:srgbClr val="CF5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0"/>
            <a:ext cx="11368735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2500" b="1" dirty="0">
                <a:solidFill>
                  <a:srgbClr val="26221C"/>
                </a:solidFill>
                <a:latin typeface="Segoe UI"/>
              </a:rPr>
              <a:t>IGN and DI commands reach the cRIO 9049 FPGA — and killing </a:t>
            </a:r>
            <a:r>
              <a:rPr sz="2500" b="1" dirty="0">
                <a:solidFill>
                  <a:srgbClr val="CF551F"/>
                </a:solidFill>
                <a:latin typeface="Segoe UI"/>
              </a:rPr>
              <a:t>any</a:t>
            </a:r>
            <a:r>
              <a:rPr sz="2500" b="1" dirty="0">
                <a:solidFill>
                  <a:srgbClr val="26221C"/>
                </a:solidFill>
                <a:latin typeface="Segoe UI"/>
              </a:rPr>
              <a:t> computer fails safe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dirty="0">
                <a:solidFill>
                  <a:srgbClr val="6E6558"/>
                </a:solidFill>
                <a:latin typeface="Segoe UI"/>
              </a:rPr>
              <a:t>Last update proved the warning chain trips correctly. Today:  </a:t>
            </a:r>
            <a:r>
              <a:rPr sz="1300" b="1" dirty="0">
                <a:solidFill>
                  <a:srgbClr val="26221C"/>
                </a:solidFill>
                <a:latin typeface="Segoe UI"/>
              </a:rPr>
              <a:t>1)</a:t>
            </a:r>
            <a:r>
              <a:rPr sz="1300" b="0" dirty="0">
                <a:solidFill>
                  <a:srgbClr val="6E6558"/>
                </a:solidFill>
                <a:latin typeface="Segoe UI"/>
              </a:rPr>
              <a:t>  commands from Python physically reach the FPGA (closest to ignition and injection hardware), and  </a:t>
            </a:r>
            <a:r>
              <a:rPr sz="1300" b="1" dirty="0">
                <a:solidFill>
                  <a:srgbClr val="26221C"/>
                </a:solidFill>
                <a:latin typeface="Segoe UI"/>
              </a:rPr>
              <a:t>2)</a:t>
            </a:r>
            <a:r>
              <a:rPr sz="1300" b="0" dirty="0">
                <a:solidFill>
                  <a:srgbClr val="6E6558"/>
                </a:solidFill>
                <a:latin typeface="Segoe UI"/>
              </a:rPr>
              <a:t>  deliberately crashing each controller now ends in a transition to Safe mode (emergency shutdown).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148840"/>
            <a:ext cx="5547207" cy="3246120"/>
          </a:xfrm>
          <a:prstGeom prst="rect">
            <a:avLst/>
          </a:prstGeom>
          <a:solidFill>
            <a:srgbClr val="FDFBF7"/>
          </a:solidFill>
          <a:ln w="9525">
            <a:solidFill>
              <a:srgbClr val="DC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2148840"/>
            <a:ext cx="5547207" cy="44450"/>
          </a:xfrm>
          <a:prstGeom prst="rect">
            <a:avLst/>
          </a:prstGeom>
          <a:solidFill>
            <a:srgbClr val="1C7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0936" y="2350008"/>
            <a:ext cx="5108295" cy="20646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dirty="0">
                <a:solidFill>
                  <a:srgbClr val="1C7E8C"/>
                </a:solidFill>
                <a:latin typeface="Segoe UI"/>
              </a:rPr>
              <a:t>VERIFIED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2400" b="1" dirty="0">
                <a:solidFill>
                  <a:srgbClr val="26221C"/>
                </a:solidFill>
                <a:latin typeface="Segoe UI"/>
              </a:rPr>
              <a:t>12 / 12</a:t>
            </a:r>
            <a:r>
              <a:rPr sz="1300" b="0" dirty="0">
                <a:solidFill>
                  <a:srgbClr val="6E6558"/>
                </a:solidFill>
                <a:latin typeface="Segoe UI"/>
              </a:rPr>
              <a:t>   ignition + injection channels live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250" b="0" dirty="0">
                <a:solidFill>
                  <a:srgbClr val="6E6558"/>
                </a:solidFill>
                <a:latin typeface="Segoe UI"/>
              </a:rPr>
              <a:t>From the Python console and the HMI: spark &amp; injection unlocked </a:t>
            </a:r>
            <a:r>
              <a:rPr sz="1250" b="1" dirty="0">
                <a:solidFill>
                  <a:srgbClr val="26221C"/>
                </a:solidFill>
                <a:latin typeface="Segoe UI"/>
              </a:rPr>
              <a:t>only in idling/firing</a:t>
            </a:r>
            <a:r>
              <a:rPr lang="en-US" sz="1250" b="1" dirty="0">
                <a:solidFill>
                  <a:srgbClr val="26221C"/>
                </a:solidFill>
                <a:latin typeface="Segoe UI"/>
              </a:rPr>
              <a:t> with IGNEnable and DIEnable true</a:t>
            </a:r>
            <a:r>
              <a:rPr sz="1250" b="0" dirty="0">
                <a:solidFill>
                  <a:srgbClr val="6E6558"/>
                </a:solidFill>
                <a:latin typeface="Segoe UI"/>
              </a:rPr>
              <a:t>, all 12 FPGA channels active.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250" b="0" dirty="0">
                <a:solidFill>
                  <a:srgbClr val="6E6558"/>
                </a:solidFill>
                <a:latin typeface="Segoe UI"/>
              </a:rPr>
              <a:t>Panel </a:t>
            </a:r>
            <a:r>
              <a:rPr sz="1250" b="1" dirty="0">
                <a:solidFill>
                  <a:srgbClr val="26221C"/>
                </a:solidFill>
                <a:latin typeface="Segoe UI"/>
              </a:rPr>
              <a:t>E-STOP verified</a:t>
            </a:r>
            <a:r>
              <a:rPr sz="1250" b="0" dirty="0">
                <a:solidFill>
                  <a:srgbClr val="6E6558"/>
                </a:solidFill>
                <a:latin typeface="Segoe UI"/>
              </a:rPr>
              <a:t> to override LabVIEW GUI/Python instantly.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dirty="0">
                <a:solidFill>
                  <a:srgbClr val="6E6558"/>
                </a:solidFill>
                <a:latin typeface="Segoe UI"/>
              </a:rPr>
              <a:t>A</a:t>
            </a:r>
            <a:r>
              <a:rPr lang="en-US" sz="1250" b="0" dirty="0">
                <a:solidFill>
                  <a:srgbClr val="6E6558"/>
                </a:solidFill>
                <a:latin typeface="Segoe UI"/>
              </a:rPr>
              <a:t>n EXE </a:t>
            </a:r>
            <a:r>
              <a:rPr sz="1250" b="0" dirty="0">
                <a:solidFill>
                  <a:srgbClr val="6E6558"/>
                </a:solidFill>
                <a:latin typeface="Segoe UI"/>
              </a:rPr>
              <a:t>build now boots a virtual engine with simulated crank and pressure signal.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7" y="2148840"/>
            <a:ext cx="5547207" cy="3246120"/>
          </a:xfrm>
          <a:prstGeom prst="rect">
            <a:avLst/>
          </a:prstGeom>
          <a:solidFill>
            <a:srgbClr val="FDFBF7"/>
          </a:solidFill>
          <a:ln w="9525">
            <a:solidFill>
              <a:srgbClr val="DC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33007" y="2148840"/>
            <a:ext cx="5547207" cy="44450"/>
          </a:xfrm>
          <a:prstGeom prst="rect">
            <a:avLst/>
          </a:prstGeom>
          <a:solidFill>
            <a:srgbClr val="B33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52463" y="2350008"/>
            <a:ext cx="5108295" cy="22647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dirty="0">
                <a:solidFill>
                  <a:srgbClr val="B3382E"/>
                </a:solidFill>
                <a:latin typeface="Segoe UI"/>
              </a:rPr>
              <a:t>FOUND → FIXED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lang="en-US" sz="1700" b="1" dirty="0">
                <a:solidFill>
                  <a:srgbClr val="26221C"/>
                </a:solidFill>
                <a:latin typeface="Segoe UI"/>
              </a:rPr>
              <a:t>The </a:t>
            </a:r>
            <a:r>
              <a:rPr sz="1700" b="1" dirty="0">
                <a:solidFill>
                  <a:srgbClr val="26221C"/>
                </a:solidFill>
                <a:latin typeface="Segoe UI"/>
              </a:rPr>
              <a:t>controller</a:t>
            </a:r>
            <a:r>
              <a:rPr lang="en-US" sz="1700" b="1" dirty="0">
                <a:solidFill>
                  <a:srgbClr val="26221C"/>
                </a:solidFill>
                <a:latin typeface="Segoe UI"/>
              </a:rPr>
              <a:t>s crashed </a:t>
            </a:r>
            <a:r>
              <a:rPr sz="1700" b="1" dirty="0">
                <a:solidFill>
                  <a:srgbClr val="26221C"/>
                </a:solidFill>
                <a:latin typeface="Segoe UI"/>
              </a:rPr>
              <a:t> </a:t>
            </a:r>
            <a:r>
              <a:rPr lang="en-US" sz="1700" b="1" dirty="0">
                <a:solidFill>
                  <a:srgbClr val="26221C"/>
                </a:solidFill>
                <a:latin typeface="Segoe UI"/>
              </a:rPr>
              <a:t>(</a:t>
            </a:r>
            <a:r>
              <a:rPr sz="1700" b="1" dirty="0">
                <a:solidFill>
                  <a:srgbClr val="26221C"/>
                </a:solidFill>
                <a:latin typeface="Segoe UI"/>
              </a:rPr>
              <a:t>on purpose</a:t>
            </a:r>
            <a:r>
              <a:rPr lang="en-US" sz="1700" b="1" dirty="0">
                <a:solidFill>
                  <a:srgbClr val="26221C"/>
                </a:solidFill>
                <a:latin typeface="Segoe UI"/>
              </a:rPr>
              <a:t>)</a:t>
            </a:r>
            <a:endParaRPr sz="1700" b="1" dirty="0">
              <a:solidFill>
                <a:srgbClr val="26221C"/>
              </a:solidFill>
              <a:latin typeface="Segoe UI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50" b="1" dirty="0">
                <a:solidFill>
                  <a:srgbClr val="26221C"/>
                </a:solidFill>
                <a:latin typeface="Segoe UI"/>
              </a:rPr>
              <a:t>Before:  </a:t>
            </a:r>
            <a:r>
              <a:rPr sz="1250" b="0" dirty="0">
                <a:solidFill>
                  <a:srgbClr val="6E6558"/>
                </a:solidFill>
                <a:latin typeface="Segoe UI"/>
              </a:rPr>
              <a:t>killing the supervisory cRIO </a:t>
            </a:r>
            <a:r>
              <a:rPr lang="en-US" sz="1250" b="0" dirty="0">
                <a:solidFill>
                  <a:srgbClr val="6E6558"/>
                </a:solidFill>
                <a:latin typeface="Segoe UI"/>
              </a:rPr>
              <a:t>(9056) </a:t>
            </a:r>
            <a:r>
              <a:rPr sz="1250" b="0" dirty="0">
                <a:solidFill>
                  <a:srgbClr val="6E6558"/>
                </a:solidFill>
                <a:latin typeface="Segoe UI"/>
              </a:rPr>
              <a:t>changed nothing — screens stayed green, the engine kept scheduling ignition on stale permissions, indefinitely.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dirty="0">
                <a:solidFill>
                  <a:srgbClr val="26221C"/>
                </a:solidFill>
                <a:latin typeface="Segoe UI"/>
              </a:rPr>
              <a:t>Now:  </a:t>
            </a:r>
            <a:r>
              <a:rPr sz="1250" b="0" dirty="0">
                <a:solidFill>
                  <a:srgbClr val="6E6558"/>
                </a:solidFill>
                <a:latin typeface="Segoe UI"/>
              </a:rPr>
              <a:t>the engine controller self-clamps to SAFE when its supervisor goes silent, and the operator screen computes its own health verdicts — displayed state = the </a:t>
            </a:r>
            <a:r>
              <a:rPr sz="1250" b="1" dirty="0">
                <a:solidFill>
                  <a:srgbClr val="26221C"/>
                </a:solidFill>
                <a:latin typeface="Segoe UI"/>
              </a:rPr>
              <a:t>most restrictive of every source it can verify alive</a:t>
            </a:r>
            <a:r>
              <a:rPr sz="1250" b="0" dirty="0">
                <a:solidFill>
                  <a:srgbClr val="6E6558"/>
                </a:solidFill>
                <a:latin typeface="Segoe UI"/>
              </a:rPr>
              <a:t>. Re-tested by crashing both cRIOs: safe </a:t>
            </a:r>
            <a:r>
              <a:rPr lang="en-US" sz="1250" b="0" dirty="0">
                <a:solidFill>
                  <a:srgbClr val="6E6558"/>
                </a:solidFill>
                <a:latin typeface="Segoe UI"/>
              </a:rPr>
              <a:t>state transition</a:t>
            </a:r>
            <a:r>
              <a:rPr sz="1250" b="0" dirty="0">
                <a:solidFill>
                  <a:srgbClr val="6E6558"/>
                </a:solidFill>
                <a:latin typeface="Segoe UI"/>
              </a:rPr>
              <a:t> + </a:t>
            </a:r>
            <a:r>
              <a:rPr lang="en-US" sz="1250" b="0" dirty="0">
                <a:solidFill>
                  <a:srgbClr val="6E6558"/>
                </a:solidFill>
                <a:latin typeface="Segoe UI"/>
              </a:rPr>
              <a:t>accurate</a:t>
            </a:r>
            <a:r>
              <a:rPr sz="1250" b="0" dirty="0">
                <a:solidFill>
                  <a:srgbClr val="6E6558"/>
                </a:solidFill>
                <a:latin typeface="Segoe UI"/>
              </a:rPr>
              <a:t> </a:t>
            </a:r>
            <a:r>
              <a:rPr lang="en-US" sz="1250" b="0" dirty="0">
                <a:solidFill>
                  <a:srgbClr val="6E6558"/>
                </a:solidFill>
                <a:latin typeface="Segoe UI"/>
              </a:rPr>
              <a:t>displays, eac</a:t>
            </a:r>
            <a:r>
              <a:rPr lang="en-US" sz="1250" dirty="0">
                <a:solidFill>
                  <a:srgbClr val="6E6558"/>
                </a:solidFill>
                <a:latin typeface="Segoe UI"/>
              </a:rPr>
              <a:t>h time</a:t>
            </a:r>
            <a:endParaRPr sz="1250" b="0" dirty="0">
              <a:solidFill>
                <a:srgbClr val="6E6558"/>
              </a:solidFill>
              <a:latin typeface="Segoe U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11480" y="5596128"/>
            <a:ext cx="11368735" cy="566928"/>
          </a:xfrm>
          <a:prstGeom prst="rect">
            <a:avLst/>
          </a:prstGeom>
          <a:solidFill>
            <a:srgbClr val="FDFBF7"/>
          </a:solidFill>
          <a:ln w="9525">
            <a:solidFill>
              <a:srgbClr val="DC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5724144"/>
            <a:ext cx="11002975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dirty="0">
                <a:solidFill>
                  <a:srgbClr val="CF551F"/>
                </a:solidFill>
                <a:latin typeface="Segoe UI"/>
              </a:rPr>
              <a:t>NEXT    </a:t>
            </a:r>
            <a:r>
              <a:rPr sz="1200" b="1" dirty="0">
                <a:solidFill>
                  <a:srgbClr val="26221C"/>
                </a:solidFill>
                <a:latin typeface="Segoe UI"/>
              </a:rPr>
              <a:t>Oscilloscope session: </a:t>
            </a:r>
            <a:r>
              <a:rPr sz="1200" b="0" dirty="0">
                <a:solidFill>
                  <a:srgbClr val="6E6558"/>
                </a:solidFill>
                <a:latin typeface="Segoe UI"/>
              </a:rPr>
              <a:t>verify spark &amp; injection timing at the pins, sweep it live from </a:t>
            </a:r>
            <a:r>
              <a:rPr lang="en-US" sz="1200" b="0" dirty="0">
                <a:solidFill>
                  <a:srgbClr val="6E6558"/>
                </a:solidFill>
                <a:latin typeface="Segoe UI"/>
              </a:rPr>
              <a:t>the PC</a:t>
            </a:r>
            <a:r>
              <a:rPr sz="1200" b="0" dirty="0">
                <a:solidFill>
                  <a:srgbClr val="6E6558"/>
                </a:solidFill>
                <a:latin typeface="Segoe UI"/>
              </a:rPr>
              <a:t> · failure drills (watchdog, sync-loss, e-stop)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19088"/>
            <a:ext cx="11368735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dirty="0">
                <a:solidFill>
                  <a:srgbClr val="6E6558"/>
                </a:solidFill>
                <a:latin typeface="Segoe UI"/>
              </a:rPr>
              <a:t>◆ Noble Thermodynamics — Argon Power Cycle                                                                     Python ⇄ </a:t>
            </a:r>
            <a:r>
              <a:rPr sz="1000" b="0">
                <a:solidFill>
                  <a:srgbClr val="6E6558"/>
                </a:solidFill>
                <a:latin typeface="Segoe UI"/>
              </a:rPr>
              <a:t>LabVIEW </a:t>
            </a:r>
            <a:r>
              <a:rPr lang="en-US" sz="1000" b="0">
                <a:solidFill>
                  <a:srgbClr val="6E6558"/>
                </a:solidFill>
                <a:latin typeface="Segoe UI"/>
              </a:rPr>
              <a:t>Integration</a:t>
            </a:r>
            <a:endParaRPr sz="1000" b="0" dirty="0">
              <a:solidFill>
                <a:srgbClr val="6E6558"/>
              </a:solidFill>
              <a:latin typeface="Segoe U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270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Segoe UI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Guillaume Beardsell</cp:lastModifiedBy>
  <cp:revision>15</cp:revision>
  <dcterms:created xsi:type="dcterms:W3CDTF">2013-01-27T09:14:16Z</dcterms:created>
  <dcterms:modified xsi:type="dcterms:W3CDTF">2026-07-18T01:21:12Z</dcterms:modified>
  <cp:category/>
</cp:coreProperties>
</file>