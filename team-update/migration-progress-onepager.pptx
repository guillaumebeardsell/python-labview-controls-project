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 dirty="0">
                <a:solidFill>
                  <a:srgbClr val="0E767E"/>
                </a:solidFill>
                <a:latin typeface="Consolas"/>
              </a:rPr>
              <a:t>MONARCH · CONTROLS → PYTHON </a:t>
            </a:r>
            <a:r>
              <a:rPr lang="en-US" sz="1050" b="0" spc="140" dirty="0">
                <a:solidFill>
                  <a:srgbClr val="0E767E"/>
                </a:solidFill>
                <a:latin typeface="Consolas"/>
              </a:rPr>
              <a:t>INTEGRATION</a:t>
            </a:r>
            <a:r>
              <a:rPr sz="1050" b="0" spc="140" dirty="0">
                <a:solidFill>
                  <a:srgbClr val="0E767E"/>
                </a:solidFill>
                <a:latin typeface="Consolas"/>
              </a:rPr>
              <a:t>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6222D"/>
                </a:solidFill>
                <a:latin typeface="Segoe UI"/>
              </a:rPr>
              <a:t>From “hello”</a:t>
            </a:r>
            <a:r>
              <a:rPr lang="en-US" sz="2600" b="1" dirty="0">
                <a:solidFill>
                  <a:srgbClr val="16222D"/>
                </a:solidFill>
                <a:latin typeface="Segoe UI"/>
              </a:rPr>
              <a:t> handshake</a:t>
            </a:r>
            <a:r>
              <a:rPr sz="2600" b="1" dirty="0">
                <a:solidFill>
                  <a:srgbClr val="16222D"/>
                </a:solidFill>
                <a:latin typeface="Segoe UI"/>
              </a:rPr>
              <a:t> to </a:t>
            </a:r>
            <a:r>
              <a:rPr lang="en-US" sz="2600" b="1" dirty="0">
                <a:solidFill>
                  <a:srgbClr val="16222D"/>
                </a:solidFill>
                <a:latin typeface="Segoe UI"/>
              </a:rPr>
              <a:t>embryonic</a:t>
            </a:r>
            <a:r>
              <a:rPr sz="2600" b="1" dirty="0">
                <a:solidFill>
                  <a:srgbClr val="16222D"/>
                </a:solidFill>
                <a:latin typeface="Segoe UI"/>
              </a:rPr>
              <a:t> </a:t>
            </a:r>
            <a:r>
              <a:rPr lang="en-US" sz="2600" b="1" dirty="0">
                <a:solidFill>
                  <a:srgbClr val="16222D"/>
                </a:solidFill>
                <a:latin typeface="Segoe UI"/>
              </a:rPr>
              <a:t>Python “</a:t>
            </a:r>
            <a:r>
              <a:rPr sz="2600" b="1" dirty="0">
                <a:solidFill>
                  <a:srgbClr val="16222D"/>
                </a:solidFill>
                <a:latin typeface="Segoe UI"/>
              </a:rPr>
              <a:t>brain</a:t>
            </a:r>
            <a:r>
              <a:rPr lang="en-US" sz="2600" b="1" dirty="0">
                <a:solidFill>
                  <a:srgbClr val="16222D"/>
                </a:solidFill>
                <a:latin typeface="Segoe UI"/>
              </a:rPr>
              <a:t>"</a:t>
            </a:r>
            <a:endParaRPr sz="2600" b="1" dirty="0">
              <a:solidFill>
                <a:srgbClr val="16222D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4464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>
                <a:solidFill>
                  <a:srgbClr val="5C6B78"/>
                </a:solidFill>
                <a:latin typeface="Segoe UI"/>
              </a:rPr>
              <a:t>Since the connectivity test</a:t>
            </a:r>
            <a:r>
              <a:rPr lang="en-US" sz="1350" b="0" dirty="0">
                <a:solidFill>
                  <a:srgbClr val="5C6B78"/>
                </a:solidFill>
                <a:latin typeface="Segoe UI"/>
              </a:rPr>
              <a:t> (handshake)</a:t>
            </a:r>
            <a:r>
              <a:rPr sz="1350" b="0" dirty="0">
                <a:solidFill>
                  <a:srgbClr val="5C6B78"/>
                </a:solidFill>
                <a:latin typeface="Segoe UI"/>
              </a:rPr>
              <a:t>: the state machine now runs in Python and </a:t>
            </a:r>
            <a:r>
              <a:rPr sz="1350" b="1" dirty="0">
                <a:solidFill>
                  <a:srgbClr val="16222D"/>
                </a:solidFill>
                <a:latin typeface="Segoe UI"/>
              </a:rPr>
              <a:t>matches the live LabVIEW system decision-for-decision</a:t>
            </a:r>
            <a:r>
              <a:rPr sz="1350" b="0" dirty="0">
                <a:solidFill>
                  <a:srgbClr val="5C6B78"/>
                </a:solidFill>
                <a:latin typeface="Segoe UI"/>
              </a:rPr>
              <a:t> — and along the way we found and fixed a safety gap</a:t>
            </a:r>
            <a:r>
              <a:rPr lang="en-US" sz="1350" b="0" dirty="0">
                <a:solidFill>
                  <a:srgbClr val="5C6B78"/>
                </a:solidFill>
                <a:latin typeface="Segoe UI"/>
              </a:rPr>
              <a:t> (loss of PC heartbeat not triggering e-shutdown).</a:t>
            </a:r>
            <a:endParaRPr sz="1350" b="0" dirty="0">
              <a:solidFill>
                <a:srgbClr val="5C6B78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WHAT HAPPENED, IN PLAIN TERMS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286000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432304"/>
            <a:ext cx="5349240" cy="1178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dirty="0">
                <a:solidFill>
                  <a:srgbClr val="0E767E"/>
                </a:solidFill>
                <a:latin typeface="Segoe UI"/>
              </a:rPr>
              <a:t>▪  </a:t>
            </a:r>
            <a:r>
              <a:rPr sz="1150" b="1" dirty="0">
                <a:solidFill>
                  <a:srgbClr val="16222D"/>
                </a:solidFill>
                <a:latin typeface="Segoe UI"/>
              </a:rPr>
              <a:t>Brain ported &amp; proven.  </a:t>
            </a:r>
            <a:r>
              <a:rPr sz="1150" b="0" dirty="0">
                <a:solidFill>
                  <a:srgbClr val="16222D"/>
                </a:solidFill>
                <a:latin typeface="Segoe UI"/>
              </a:rPr>
              <a:t>The 9056’s state machine (</a:t>
            </a:r>
            <a:r>
              <a:rPr lang="en-US" sz="1150" b="0" dirty="0">
                <a:solidFill>
                  <a:srgbClr val="16222D"/>
                </a:solidFill>
                <a:latin typeface="Segoe UI"/>
              </a:rPr>
              <a:t>SAFE [E-STOP</a:t>
            </a:r>
            <a:r>
              <a:rPr lang="en-US" sz="1150" dirty="0">
                <a:solidFill>
                  <a:srgbClr val="16222D"/>
                </a:solidFill>
                <a:latin typeface="Segoe UI"/>
              </a:rPr>
              <a:t>]</a:t>
            </a:r>
            <a:r>
              <a:rPr sz="1150" b="0" dirty="0">
                <a:solidFill>
                  <a:srgbClr val="16222D"/>
                </a:solidFill>
                <a:latin typeface="Segoe UI"/>
              </a:rPr>
              <a:t>→FIRING) and warning policy now run in Python, validated in shadow mode against the live system — every state, e-stop, overrides, warning </a:t>
            </a:r>
            <a:r>
              <a:rPr lang="en-US" sz="1150" b="0" dirty="0">
                <a:solidFill>
                  <a:srgbClr val="16222D"/>
                </a:solidFill>
                <a:latin typeface="Segoe UI"/>
              </a:rPr>
              <a:t>limiters (clamps)</a:t>
            </a:r>
            <a:r>
              <a:rPr sz="1150" b="0" dirty="0">
                <a:solidFill>
                  <a:srgbClr val="16222D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dirty="0">
                <a:solidFill>
                  <a:srgbClr val="0E767E"/>
                </a:solidFill>
                <a:latin typeface="Segoe UI"/>
              </a:rPr>
              <a:t>▪  </a:t>
            </a:r>
            <a:r>
              <a:rPr sz="1150" b="1" dirty="0">
                <a:solidFill>
                  <a:srgbClr val="16222D"/>
                </a:solidFill>
                <a:latin typeface="Segoe UI"/>
              </a:rPr>
              <a:t>Safety gap found &amp; fixed.  </a:t>
            </a:r>
            <a:r>
              <a:rPr sz="1150" b="0" dirty="0">
                <a:solidFill>
                  <a:srgbClr val="16222D"/>
                </a:solidFill>
                <a:latin typeface="Segoe UI"/>
              </a:rPr>
              <a:t>The </a:t>
            </a:r>
            <a:r>
              <a:rPr sz="1150" b="0" dirty="0" err="1">
                <a:solidFill>
                  <a:srgbClr val="16222D"/>
                </a:solidFill>
                <a:latin typeface="Segoe UI"/>
              </a:rPr>
              <a:t>cRIO</a:t>
            </a:r>
            <a:r>
              <a:rPr sz="1150" b="0" dirty="0">
                <a:solidFill>
                  <a:srgbClr val="16222D"/>
                </a:solidFill>
                <a:latin typeface="Segoe UI"/>
              </a:rPr>
              <a:t> detected a lost PC but the response was never wired (original code). Now it clamps to SAFE in 5 s — proven live, </a:t>
            </a:r>
            <a:r>
              <a:rPr lang="en-US" sz="1150" b="0" dirty="0">
                <a:solidFill>
                  <a:srgbClr val="16222D"/>
                </a:solidFill>
                <a:latin typeface="Segoe UI"/>
              </a:rPr>
              <a:t>pull-the-plug.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7127D7-B567-221A-AAA0-1C27D76BA0EF}"/>
              </a:ext>
            </a:extLst>
          </p:cNvPr>
          <p:cNvGrpSpPr/>
          <p:nvPr/>
        </p:nvGrpSpPr>
        <p:grpSpPr>
          <a:xfrm>
            <a:off x="502920" y="4425696"/>
            <a:ext cx="5349240" cy="1042416"/>
            <a:chOff x="502920" y="4425696"/>
            <a:chExt cx="5349240" cy="1042416"/>
          </a:xfrm>
        </p:grpSpPr>
        <p:sp>
          <p:nvSpPr>
            <p:cNvPr id="10" name="TextBox 9"/>
            <p:cNvSpPr txBox="1"/>
            <p:nvPr/>
          </p:nvSpPr>
          <p:spPr>
            <a:xfrm>
              <a:off x="502920" y="4425696"/>
              <a:ext cx="534924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850" b="0" spc="60">
                  <a:solidFill>
                    <a:srgbClr val="5C6B78"/>
                  </a:solidFill>
                  <a:latin typeface="Consolas"/>
                </a:rPr>
                <a:t>SHADOW MODE · SAME DATA, TWO BRAINS, EVERY FRAME COMPARED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920" y="4663440"/>
              <a:ext cx="1554480" cy="804672"/>
            </a:xfrm>
            <a:prstGeom prst="roundRect">
              <a:avLst>
                <a:gd name="adj" fmla="val 9000"/>
              </a:avLst>
            </a:prstGeom>
            <a:solidFill>
              <a:srgbClr val="E0F0F0"/>
            </a:solidFill>
            <a:ln w="12700">
              <a:solidFill>
                <a:srgbClr val="C4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0E767E"/>
                  </a:solidFill>
                  <a:latin typeface="Consolas"/>
                </a:rPr>
                <a:t>IN CHARGE</a:t>
              </a:r>
            </a:p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0E767E"/>
                  </a:solidFill>
                  <a:latin typeface="Segoe UI"/>
                </a:rPr>
                <a:t>LabVIEW</a:t>
              </a:r>
            </a:p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0E767E"/>
                  </a:solidFill>
                  <a:latin typeface="Segoe UI"/>
                </a:rPr>
                <a:t>decides &amp; acts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57400" y="4663440"/>
              <a:ext cx="329184" cy="8046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500" b="1">
                  <a:solidFill>
                    <a:srgbClr val="5C6B78"/>
                  </a:solidFill>
                  <a:latin typeface="Segoe UI"/>
                </a:rPr>
                <a:t>→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386584" y="4663440"/>
              <a:ext cx="1554480" cy="804672"/>
            </a:xfrm>
            <a:prstGeom prst="roundRect">
              <a:avLst>
                <a:gd name="adj" fmla="val 9000"/>
              </a:avLst>
            </a:prstGeom>
            <a:solidFill>
              <a:srgbClr val="EDEAFA"/>
            </a:solidFill>
            <a:ln w="12700">
              <a:solidFill>
                <a:srgbClr val="D6CEF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5B46C9"/>
                  </a:solidFill>
                  <a:latin typeface="Consolas"/>
                </a:rPr>
                <a:t>SHADOW</a:t>
              </a:r>
            </a:p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5B46C9"/>
                  </a:solidFill>
                  <a:latin typeface="Segoe UI"/>
                </a:rPr>
                <a:t>Python</a:t>
              </a:r>
            </a:p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5B46C9"/>
                  </a:solidFill>
                  <a:latin typeface="Segoe UI"/>
                </a:rPr>
                <a:t>sends nothing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41063" y="4663440"/>
              <a:ext cx="329184" cy="8046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500" b="1">
                  <a:solidFill>
                    <a:srgbClr val="5C6B78"/>
                  </a:solidFill>
                  <a:latin typeface="Segoe UI"/>
                </a:rPr>
                <a:t>→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70248" y="4663440"/>
              <a:ext cx="1554480" cy="804672"/>
            </a:xfrm>
            <a:prstGeom prst="roundRect">
              <a:avLst>
                <a:gd name="adj" fmla="val 9000"/>
              </a:avLst>
            </a:prstGeom>
            <a:solidFill>
              <a:srgbClr val="E3F4EB"/>
            </a:solidFill>
            <a:ln w="12700">
              <a:solidFill>
                <a:srgbClr val="BFE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1C914F"/>
                  </a:solidFill>
                  <a:latin typeface="Consolas"/>
                </a:rPr>
                <a:t>COMPARED</a:t>
              </a:r>
            </a:p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C914F"/>
                  </a:solidFill>
                  <a:latin typeface="Segoe UI"/>
                </a:rPr>
                <a:t>✔ agree</a:t>
              </a:r>
            </a:p>
            <a:p>
              <a:pPr algn="ctr">
                <a:spcAft>
                  <a:spcPts val="0"/>
                </a:spcAft>
              </a:pPr>
              <a:r>
                <a:rPr sz="900" b="0">
                  <a:solidFill>
                    <a:srgbClr val="1C914F"/>
                  </a:solidFill>
                  <a:latin typeface="Segoe UI"/>
                </a:rPr>
                <a:t>every frame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263640" y="1993392"/>
            <a:ext cx="5422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PROOF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2286000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432304"/>
            <a:ext cx="5422392" cy="93268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432304"/>
            <a:ext cx="54864" cy="93268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2523744"/>
            <a:ext cx="11887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B46C9"/>
                </a:solidFill>
                <a:latin typeface="Segoe U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51176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live agreement, all 5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816352"/>
            <a:ext cx="3822191" cy="303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dirty="0">
                <a:solidFill>
                  <a:srgbClr val="5C6B78"/>
                </a:solidFill>
                <a:latin typeface="Segoe UI"/>
              </a:rPr>
              <a:t>Python matched LabVIEW across every input </a:t>
            </a:r>
            <a:r>
              <a:rPr lang="en-US" sz="950" b="0" dirty="0">
                <a:solidFill>
                  <a:srgbClr val="5C6B78"/>
                </a:solidFill>
                <a:latin typeface="Segoe UI"/>
              </a:rPr>
              <a:t>thrown </a:t>
            </a:r>
            <a:r>
              <a:rPr sz="950" b="0" dirty="0">
                <a:solidFill>
                  <a:srgbClr val="5C6B78"/>
                </a:solidFill>
                <a:latin typeface="Segoe UI"/>
              </a:rPr>
              <a:t>at it (</a:t>
            </a:r>
            <a:r>
              <a:rPr lang="en-US" sz="950" b="0" dirty="0">
                <a:solidFill>
                  <a:srgbClr val="5C6B78"/>
                </a:solidFill>
                <a:latin typeface="Segoe UI"/>
              </a:rPr>
              <a:t>limited testing only thus far</a:t>
            </a:r>
            <a:r>
              <a:rPr sz="950" b="0" dirty="0">
                <a:solidFill>
                  <a:srgbClr val="5C6B78"/>
                </a:solidFill>
                <a:latin typeface="Segoe UI"/>
              </a:rPr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5422392" cy="93268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474720"/>
            <a:ext cx="54864" cy="932688"/>
          </a:xfrm>
          <a:prstGeom prst="rect">
            <a:avLst/>
          </a:prstGeom>
          <a:solidFill>
            <a:srgbClr val="1C9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7" y="3566160"/>
            <a:ext cx="11887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C914F"/>
                </a:solidFill>
                <a:latin typeface="Segoe UI"/>
              </a:rPr>
              <a:t>5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0450" y="3593591"/>
            <a:ext cx="4092701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16222D"/>
                </a:solidFill>
                <a:latin typeface="Segoe UI"/>
              </a:rPr>
              <a:t>PC </a:t>
            </a:r>
            <a:r>
              <a:rPr lang="en-US" sz="1150" b="1" dirty="0">
                <a:solidFill>
                  <a:srgbClr val="16222D"/>
                </a:solidFill>
                <a:latin typeface="Segoe UI"/>
              </a:rPr>
              <a:t>connection </a:t>
            </a:r>
            <a:r>
              <a:rPr sz="1150" b="1" dirty="0">
                <a:solidFill>
                  <a:srgbClr val="16222D"/>
                </a:solidFill>
                <a:latin typeface="Segoe UI"/>
              </a:rPr>
              <a:t>lost → </a:t>
            </a:r>
            <a:r>
              <a:rPr sz="1150" b="1" dirty="0" err="1">
                <a:solidFill>
                  <a:srgbClr val="16222D"/>
                </a:solidFill>
                <a:latin typeface="Segoe UI"/>
              </a:rPr>
              <a:t>cRIO</a:t>
            </a:r>
            <a:r>
              <a:rPr sz="1150" b="1" dirty="0">
                <a:solidFill>
                  <a:srgbClr val="16222D"/>
                </a:solidFill>
                <a:latin typeface="Segoe UI"/>
              </a:rPr>
              <a:t> </a:t>
            </a:r>
            <a:r>
              <a:rPr lang="en-US" sz="1150" b="1" dirty="0">
                <a:solidFill>
                  <a:srgbClr val="16222D"/>
                </a:solidFill>
                <a:latin typeface="Segoe UI"/>
              </a:rPr>
              <a:t>changes STATE to SAFE (E-STOP)</a:t>
            </a:r>
            <a:endParaRPr sz="1150" b="1" dirty="0">
              <a:solidFill>
                <a:srgbClr val="16222D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3858768"/>
            <a:ext cx="3822191" cy="303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950" b="0" dirty="0">
                <a:solidFill>
                  <a:srgbClr val="5C6B78"/>
                </a:solidFill>
                <a:latin typeface="Segoe UI"/>
              </a:rPr>
              <a:t>Tested live</a:t>
            </a:r>
            <a:r>
              <a:rPr sz="950" b="0" dirty="0">
                <a:solidFill>
                  <a:srgbClr val="5C6B78"/>
                </a:solidFill>
                <a:latin typeface="Segoe UI"/>
              </a:rPr>
              <a:t> drop episode: </a:t>
            </a:r>
            <a:r>
              <a:rPr lang="en-US" sz="950" b="0" dirty="0">
                <a:solidFill>
                  <a:srgbClr val="5C6B78"/>
                </a:solidFill>
                <a:latin typeface="Segoe UI"/>
              </a:rPr>
              <a:t>PC </a:t>
            </a:r>
            <a:r>
              <a:rPr sz="950" b="0" dirty="0">
                <a:solidFill>
                  <a:srgbClr val="5C6B78"/>
                </a:solidFill>
                <a:latin typeface="Segoe UI"/>
              </a:rPr>
              <a:t>heartbeat stops → SAFE hold → controlled step-by-step recovery; Python’s shadow agreed on every frame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517136"/>
            <a:ext cx="5422392" cy="932688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517136"/>
            <a:ext cx="54864" cy="93268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807" y="4608575"/>
            <a:ext cx="11887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767E"/>
                </a:solidFill>
                <a:latin typeface="Segoe UI"/>
              </a:rPr>
              <a:t>144+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636007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automated tests, on every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901183"/>
            <a:ext cx="382219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dirty="0">
                <a:solidFill>
                  <a:srgbClr val="5C6B78"/>
                </a:solidFill>
                <a:latin typeface="Segoe UI"/>
              </a:rPr>
              <a:t>all ported logic pinned by a test suite run in CI, so it can’t silently drift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5650992"/>
            <a:ext cx="11185855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572414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10">
                <a:solidFill>
                  <a:srgbClr val="5C6B78"/>
                </a:solidFill>
                <a:latin typeface="Consolas"/>
              </a:rPr>
              <a:t>PHASES A–E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25312"/>
            <a:ext cx="2637129" cy="310896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 b="1">
                <a:solidFill>
                  <a:srgbClr val="1C914F"/>
                </a:solidFill>
                <a:latin typeface="Consolas"/>
              </a:rPr>
              <a:t>A  shadow brain — validated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8921" y="5925312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 b="1">
                <a:solidFill>
                  <a:srgbClr val="B45B0E"/>
                </a:solidFill>
                <a:latin typeface="Consolas"/>
              </a:rPr>
              <a:t>B  command path — LabVIEW next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64961" y="5925312"/>
            <a:ext cx="2112264" cy="310896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 b="1" dirty="0">
                <a:solidFill>
                  <a:srgbClr val="5B46C9"/>
                </a:solidFill>
                <a:latin typeface="Consolas"/>
              </a:rPr>
              <a:t>C  operator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097" y="5925312"/>
            <a:ext cx="1812340" cy="310896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 b="1" dirty="0">
                <a:solidFill>
                  <a:srgbClr val="5B46C9"/>
                </a:solidFill>
                <a:latin typeface="Consolas"/>
              </a:rPr>
              <a:t>D  sequencing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27309" y="5925312"/>
            <a:ext cx="2037283" cy="310896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 b="1" dirty="0">
                <a:solidFill>
                  <a:srgbClr val="5B46C9"/>
                </a:solidFill>
                <a:latin typeface="Consolas"/>
              </a:rPr>
              <a:t>E  warning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572414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B78"/>
                </a:solidFill>
                <a:latin typeface="Consolas"/>
              </a:rPr>
              <a:t>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297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19</cp:revision>
  <dcterms:created xsi:type="dcterms:W3CDTF">2013-01-27T09:14:16Z</dcterms:created>
  <dcterms:modified xsi:type="dcterms:W3CDTF">2026-07-08T00:55:47Z</dcterms:modified>
  <cp:category/>
</cp:coreProperties>
</file>