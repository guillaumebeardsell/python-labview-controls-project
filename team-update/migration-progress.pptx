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126" y="10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5847" cy="64008"/>
          </a:xfrm>
          <a:prstGeom prst="rect">
            <a:avLst/>
          </a:prstGeom>
          <a:solidFill>
            <a:srgbClr val="5B4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64008"/>
          </a:xfrm>
          <a:prstGeom prst="rect">
            <a:avLst/>
          </a:prstGeom>
          <a:solidFill>
            <a:srgbClr val="0E7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9601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140">
                <a:solidFill>
                  <a:srgbClr val="0E767E"/>
                </a:solidFill>
                <a:latin typeface="Consolas"/>
              </a:rPr>
              <a:t>MONARCH · CONTROLS → PYTHON MIGRATION · UPDATE 2 · 2026-07-07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91495" y="27432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5C6B78"/>
                </a:solidFill>
                <a:latin typeface="Consolas"/>
              </a:rPr>
              <a:t>1 /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12064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6222D"/>
                </a:solidFill>
                <a:latin typeface="Segoe UI"/>
              </a:rPr>
              <a:t>From “hello” to a proven brain — five days of progress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5C6B78"/>
                </a:solidFill>
                <a:latin typeface="Segoe UI"/>
              </a:rPr>
              <a:t>Since the July 2 connectivity test: the first supervisory state machine now runs in Python and </a:t>
            </a:r>
            <a:r>
              <a:rPr sz="1350" b="1">
                <a:solidFill>
                  <a:srgbClr val="16222D"/>
                </a:solidFill>
                <a:latin typeface="Segoe UI"/>
              </a:rPr>
              <a:t>matches the live LabVIEW system decision-for-decision</a:t>
            </a:r>
            <a:r>
              <a:rPr sz="1350" b="0">
                <a:solidFill>
                  <a:srgbClr val="5C6B78"/>
                </a:solidFill>
                <a:latin typeface="Segoe UI"/>
              </a:rPr>
              <a:t> — and along the way we found and fixed a real safety gap that predates this project. The safety-critical LabVIEW control still owns all hardware.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2697480"/>
            <a:ext cx="11185855" cy="0"/>
          </a:xfrm>
          <a:prstGeom prst="bentConnector3">
            <a:avLst/>
          </a:prstGeom>
          <a:ln w="25400">
            <a:solidFill>
              <a:srgbClr val="E2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453895" y="2615184"/>
            <a:ext cx="164592" cy="164592"/>
          </a:xfrm>
          <a:prstGeom prst="ellipse">
            <a:avLst/>
          </a:prstGeom>
          <a:solidFill>
            <a:srgbClr val="0E7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1" y="2295144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spc="90">
                <a:solidFill>
                  <a:srgbClr val="0E767E"/>
                </a:solidFill>
                <a:latin typeface="Consolas"/>
              </a:rPr>
              <a:t>JUL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898648"/>
            <a:ext cx="2066543" cy="969264"/>
          </a:xfrm>
          <a:prstGeom prst="roundRect">
            <a:avLst>
              <a:gd name="adj" fmla="val 10000"/>
            </a:avLst>
          </a:prstGeom>
          <a:solidFill>
            <a:srgbClr val="E0F0F0"/>
          </a:solidFill>
          <a:ln w="12700">
            <a:solidFill>
              <a:srgbClr val="C4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"/>
              </a:spcAft>
            </a:pPr>
            <a:r>
              <a:rPr sz="1250" b="1">
                <a:solidFill>
                  <a:srgbClr val="0E767E"/>
                </a:solidFill>
                <a:latin typeface="Segoe UI"/>
              </a:rPr>
              <a:t>“Hello” link</a:t>
            </a:r>
          </a:p>
          <a:p>
            <a:pPr algn="ctr">
              <a:spcAft>
                <a:spcPts val="100"/>
              </a:spcAft>
            </a:pPr>
            <a:r>
              <a:rPr sz="900" b="0">
                <a:solidFill>
                  <a:srgbClr val="16222D"/>
                </a:solidFill>
                <a:latin typeface="Segoe UI"/>
              </a:rPr>
              <a:t>two-way Python↔LabVIEW</a:t>
            </a:r>
          </a:p>
          <a:p>
            <a:pPr algn="ctr">
              <a:spcAft>
                <a:spcPts val="100"/>
              </a:spcAft>
            </a:pPr>
            <a:r>
              <a:rPr sz="900" b="0">
                <a:solidFill>
                  <a:srgbClr val="16222D"/>
                </a:solidFill>
                <a:latin typeface="Segoe UI"/>
              </a:rPr>
              <a:t>connection — PASS</a:t>
            </a:r>
          </a:p>
        </p:txBody>
      </p:sp>
      <p:sp>
        <p:nvSpPr>
          <p:cNvPr id="12" name="Oval 11"/>
          <p:cNvSpPr/>
          <p:nvPr/>
        </p:nvSpPr>
        <p:spPr>
          <a:xfrm>
            <a:off x="3733723" y="2615184"/>
            <a:ext cx="164592" cy="164592"/>
          </a:xfrm>
          <a:prstGeom prst="ellipse">
            <a:avLst/>
          </a:prstGeom>
          <a:solidFill>
            <a:srgbClr val="0E7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10179" y="2295144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spc="90">
                <a:solidFill>
                  <a:srgbClr val="0E767E"/>
                </a:solidFill>
                <a:latin typeface="Consolas"/>
              </a:rPr>
              <a:t>JUL 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82747" y="2898648"/>
            <a:ext cx="2066543" cy="969264"/>
          </a:xfrm>
          <a:prstGeom prst="roundRect">
            <a:avLst>
              <a:gd name="adj" fmla="val 10000"/>
            </a:avLst>
          </a:prstGeom>
          <a:solidFill>
            <a:srgbClr val="E0F0F0"/>
          </a:solidFill>
          <a:ln w="12700">
            <a:solidFill>
              <a:srgbClr val="C4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"/>
              </a:spcAft>
            </a:pPr>
            <a:r>
              <a:rPr sz="1250" b="1">
                <a:solidFill>
                  <a:srgbClr val="0E767E"/>
                </a:solidFill>
                <a:latin typeface="Segoe UI"/>
              </a:rPr>
              <a:t>Live telemetry</a:t>
            </a:r>
          </a:p>
          <a:p>
            <a:pPr algn="ctr">
              <a:spcAft>
                <a:spcPts val="100"/>
              </a:spcAft>
            </a:pPr>
            <a:r>
              <a:rPr sz="900" b="0">
                <a:solidFill>
                  <a:srgbClr val="16222D"/>
                </a:solidFill>
                <a:latin typeface="Segoe UI"/>
              </a:rPr>
              <a:t>real control data streams</a:t>
            </a:r>
          </a:p>
          <a:p>
            <a:pPr algn="ctr">
              <a:spcAft>
                <a:spcPts val="100"/>
              </a:spcAft>
            </a:pPr>
            <a:r>
              <a:rPr sz="900" b="0">
                <a:solidFill>
                  <a:srgbClr val="16222D"/>
                </a:solidFill>
                <a:latin typeface="Segoe UI"/>
              </a:rPr>
              <a:t>to Python at 1 Hz</a:t>
            </a:r>
          </a:p>
        </p:txBody>
      </p:sp>
      <p:sp>
        <p:nvSpPr>
          <p:cNvPr id="15" name="Oval 14"/>
          <p:cNvSpPr/>
          <p:nvPr/>
        </p:nvSpPr>
        <p:spPr>
          <a:xfrm>
            <a:off x="6013551" y="2615184"/>
            <a:ext cx="164592" cy="164592"/>
          </a:xfrm>
          <a:prstGeom prst="ellipse">
            <a:avLst/>
          </a:prstGeom>
          <a:solidFill>
            <a:srgbClr val="5B4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90007" y="2295144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spc="90" dirty="0">
                <a:solidFill>
                  <a:srgbClr val="5B46C9"/>
                </a:solidFill>
                <a:latin typeface="Consolas"/>
              </a:rPr>
              <a:t>JUL 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62575" y="2898648"/>
            <a:ext cx="2066543" cy="969264"/>
          </a:xfrm>
          <a:prstGeom prst="roundRect">
            <a:avLst>
              <a:gd name="adj" fmla="val 10000"/>
            </a:avLst>
          </a:prstGeom>
          <a:solidFill>
            <a:srgbClr val="EDEAFA"/>
          </a:solidFill>
          <a:ln w="12700">
            <a:solidFill>
              <a:srgbClr val="D6CE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"/>
              </a:spcAft>
            </a:pPr>
            <a:r>
              <a:rPr sz="1250" b="1">
                <a:solidFill>
                  <a:srgbClr val="5B46C9"/>
                </a:solidFill>
                <a:latin typeface="Segoe UI"/>
              </a:rPr>
              <a:t>Migration plan</a:t>
            </a:r>
          </a:p>
          <a:p>
            <a:pPr algn="ctr">
              <a:spcAft>
                <a:spcPts val="100"/>
              </a:spcAft>
            </a:pPr>
            <a:r>
              <a:rPr sz="900" b="0">
                <a:solidFill>
                  <a:srgbClr val="16222D"/>
                </a:solidFill>
                <a:latin typeface="Segoe UI"/>
              </a:rPr>
              <a:t>phased roadmap A–E with</a:t>
            </a:r>
          </a:p>
          <a:p>
            <a:pPr algn="ctr">
              <a:spcAft>
                <a:spcPts val="100"/>
              </a:spcAft>
            </a:pPr>
            <a:r>
              <a:rPr sz="900" b="0">
                <a:solidFill>
                  <a:srgbClr val="16222D"/>
                </a:solidFill>
                <a:latin typeface="Segoe UI"/>
              </a:rPr>
              <a:t>safety gates at each step</a:t>
            </a:r>
          </a:p>
        </p:txBody>
      </p:sp>
      <p:sp>
        <p:nvSpPr>
          <p:cNvPr id="18" name="Oval 17"/>
          <p:cNvSpPr/>
          <p:nvPr/>
        </p:nvSpPr>
        <p:spPr>
          <a:xfrm>
            <a:off x="8293379" y="2615184"/>
            <a:ext cx="164592" cy="164592"/>
          </a:xfrm>
          <a:prstGeom prst="ellipse">
            <a:avLst/>
          </a:prstGeom>
          <a:solidFill>
            <a:srgbClr val="5B4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69835" y="2295144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spc="90">
                <a:solidFill>
                  <a:srgbClr val="5B46C9"/>
                </a:solidFill>
                <a:latin typeface="Consolas"/>
              </a:rPr>
              <a:t>JUL 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42403" y="2898648"/>
            <a:ext cx="2066543" cy="969264"/>
          </a:xfrm>
          <a:prstGeom prst="roundRect">
            <a:avLst>
              <a:gd name="adj" fmla="val 10000"/>
            </a:avLst>
          </a:prstGeom>
          <a:solidFill>
            <a:srgbClr val="EDEAFA"/>
          </a:solidFill>
          <a:ln w="12700">
            <a:solidFill>
              <a:srgbClr val="D6CE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"/>
              </a:spcAft>
            </a:pPr>
            <a:r>
              <a:rPr sz="1250" b="1" dirty="0">
                <a:solidFill>
                  <a:srgbClr val="5B46C9"/>
                </a:solidFill>
                <a:latin typeface="Segoe UI"/>
              </a:rPr>
              <a:t>Brain validated</a:t>
            </a:r>
          </a:p>
          <a:p>
            <a:pPr algn="ctr">
              <a:spcAft>
                <a:spcPts val="100"/>
              </a:spcAft>
            </a:pPr>
            <a:r>
              <a:rPr sz="900" b="0" dirty="0">
                <a:solidFill>
                  <a:srgbClr val="16222D"/>
                </a:solidFill>
                <a:latin typeface="Segoe UI"/>
              </a:rPr>
              <a:t>Python state machine agrees</a:t>
            </a:r>
          </a:p>
          <a:p>
            <a:pPr algn="ctr">
              <a:spcAft>
                <a:spcPts val="100"/>
              </a:spcAft>
            </a:pPr>
            <a:r>
              <a:rPr sz="900" b="0" dirty="0">
                <a:solidFill>
                  <a:srgbClr val="16222D"/>
                </a:solidFill>
                <a:latin typeface="Segoe UI"/>
              </a:rPr>
              <a:t>with LabVIEW live — 100%</a:t>
            </a:r>
            <a:br>
              <a:rPr lang="en-US" sz="900" b="0" dirty="0">
                <a:solidFill>
                  <a:srgbClr val="16222D"/>
                </a:solidFill>
                <a:latin typeface="Segoe UI"/>
              </a:rPr>
            </a:br>
            <a:r>
              <a:rPr lang="en-US" sz="900" b="0" dirty="0">
                <a:solidFill>
                  <a:srgbClr val="16222D"/>
                </a:solidFill>
                <a:latin typeface="Segoe UI"/>
              </a:rPr>
              <a:t>(limited testing)</a:t>
            </a:r>
            <a:endParaRPr sz="900" b="0" dirty="0">
              <a:solidFill>
                <a:srgbClr val="16222D"/>
              </a:solidFill>
              <a:latin typeface="Segoe UI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10573207" y="2615184"/>
            <a:ext cx="164592" cy="164592"/>
          </a:xfrm>
          <a:prstGeom prst="ellipse">
            <a:avLst/>
          </a:prstGeom>
          <a:solidFill>
            <a:srgbClr val="1C9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49663" y="2295144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spc="90">
                <a:solidFill>
                  <a:srgbClr val="1C914F"/>
                </a:solidFill>
                <a:latin typeface="Consolas"/>
              </a:rPr>
              <a:t>JUL 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22231" y="2898648"/>
            <a:ext cx="2066543" cy="969264"/>
          </a:xfrm>
          <a:prstGeom prst="roundRect">
            <a:avLst>
              <a:gd name="adj" fmla="val 10000"/>
            </a:avLst>
          </a:prstGeom>
          <a:solidFill>
            <a:srgbClr val="E3F4EB"/>
          </a:solidFill>
          <a:ln w="12700">
            <a:solidFill>
              <a:srgbClr val="BFE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"/>
              </a:spcAft>
            </a:pPr>
            <a:r>
              <a:rPr sz="1250" b="1" dirty="0">
                <a:solidFill>
                  <a:srgbClr val="1C914F"/>
                </a:solidFill>
                <a:latin typeface="Segoe UI"/>
              </a:rPr>
              <a:t>Safety gap fixed</a:t>
            </a:r>
          </a:p>
          <a:p>
            <a:pPr algn="ctr">
              <a:spcAft>
                <a:spcPts val="100"/>
              </a:spcAft>
            </a:pPr>
            <a:r>
              <a:rPr sz="900" b="0" dirty="0">
                <a:solidFill>
                  <a:srgbClr val="16222D"/>
                </a:solidFill>
                <a:latin typeface="Segoe UI"/>
              </a:rPr>
              <a:t>loss-of-PC watchdog wired</a:t>
            </a:r>
          </a:p>
          <a:p>
            <a:pPr algn="ctr">
              <a:spcAft>
                <a:spcPts val="100"/>
              </a:spcAft>
            </a:pPr>
            <a:r>
              <a:rPr sz="900" b="0" dirty="0">
                <a:solidFill>
                  <a:srgbClr val="16222D"/>
                </a:solidFill>
                <a:latin typeface="Segoe UI"/>
              </a:rPr>
              <a:t>and </a:t>
            </a:r>
            <a:r>
              <a:rPr lang="en-US" sz="900" b="0" dirty="0">
                <a:solidFill>
                  <a:srgbClr val="16222D"/>
                </a:solidFill>
                <a:latin typeface="Segoe UI"/>
              </a:rPr>
              <a:t>verified</a:t>
            </a:r>
            <a:endParaRPr sz="900" b="0" dirty="0">
              <a:solidFill>
                <a:srgbClr val="16222D"/>
              </a:solidFill>
              <a:latin typeface="Segoe U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02920" y="4105655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110">
                <a:solidFill>
                  <a:srgbClr val="5C6B78"/>
                </a:solidFill>
                <a:latin typeface="Consolas"/>
              </a:rPr>
              <a:t>THE THREE NUMBERS THAT MATTER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434840"/>
            <a:ext cx="3545738" cy="169164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12700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02920" y="4434840"/>
            <a:ext cx="64008" cy="1691640"/>
          </a:xfrm>
          <a:prstGeom prst="rect">
            <a:avLst/>
          </a:prstGeom>
          <a:solidFill>
            <a:srgbClr val="5B4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8952" y="4544568"/>
            <a:ext cx="3088538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5B46C9"/>
                </a:solidFill>
                <a:latin typeface="Segoe UI"/>
              </a:rPr>
              <a:t>100%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" y="5001768"/>
            <a:ext cx="308853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90">
                <a:solidFill>
                  <a:srgbClr val="5C6B78"/>
                </a:solidFill>
                <a:latin typeface="Consolas"/>
              </a:rPr>
              <a:t>LIVE AGREEMENT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5303520"/>
            <a:ext cx="308853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16222D"/>
                </a:solidFill>
                <a:latin typeface="Segoe UI"/>
              </a:rPr>
              <a:t>Python’s decisions matched LabVIEW’s across all 5 engine states and every input we could throw at it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22978" y="4434840"/>
            <a:ext cx="3545738" cy="169164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12700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322978" y="4434840"/>
            <a:ext cx="64008" cy="1691640"/>
          </a:xfrm>
          <a:prstGeom prst="rect">
            <a:avLst/>
          </a:prstGeom>
          <a:solidFill>
            <a:srgbClr val="1C9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9010" y="4544568"/>
            <a:ext cx="3088538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C914F"/>
                </a:solidFill>
                <a:latin typeface="Segoe UI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9010" y="5001768"/>
            <a:ext cx="308853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90">
                <a:solidFill>
                  <a:srgbClr val="5C6B78"/>
                </a:solidFill>
                <a:latin typeface="Consolas"/>
              </a:rPr>
              <a:t>SAFETY GAP CLOSED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9010" y="5303520"/>
            <a:ext cx="308853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16222D"/>
                </a:solidFill>
                <a:latin typeface="Segoe UI"/>
              </a:rPr>
              <a:t>the cRIO detected a lost PC but did nothing about it — now it safe-holds, proven with a live pull-the-plug test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43036" y="4434840"/>
            <a:ext cx="3545738" cy="169164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12700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143036" y="4434840"/>
            <a:ext cx="64008" cy="1691640"/>
          </a:xfrm>
          <a:prstGeom prst="rect">
            <a:avLst/>
          </a:prstGeom>
          <a:solidFill>
            <a:srgbClr val="0E7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99068" y="4544568"/>
            <a:ext cx="3088538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dirty="0">
                <a:solidFill>
                  <a:srgbClr val="0E767E"/>
                </a:solidFill>
                <a:latin typeface="Segoe UI"/>
              </a:rPr>
              <a:t>144+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99068" y="5001768"/>
            <a:ext cx="308853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90" dirty="0">
                <a:solidFill>
                  <a:srgbClr val="5C6B78"/>
                </a:solidFill>
                <a:latin typeface="Consolas"/>
              </a:rPr>
              <a:t>AUTOMATED TESTS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99068" y="5303520"/>
            <a:ext cx="308853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dirty="0">
                <a:solidFill>
                  <a:srgbClr val="16222D"/>
                </a:solidFill>
                <a:latin typeface="Segoe UI"/>
              </a:rPr>
              <a:t>every piece of ported logic is pinned by tests that run on every change, so it can’t silently drift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419088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dirty="0">
                <a:solidFill>
                  <a:srgbClr val="16222D"/>
                </a:solidFill>
                <a:latin typeface="Segoe UI"/>
              </a:rPr>
              <a:t>Bottom line:  </a:t>
            </a:r>
            <a:r>
              <a:rPr sz="1150" b="0" dirty="0">
                <a:solidFill>
                  <a:srgbClr val="5C6B78"/>
                </a:solidFill>
                <a:latin typeface="Segoe UI"/>
              </a:rPr>
              <a:t>the riskiest step of the migration — proving Python can faithfully reproduce the control logic against the real system — is done.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5847" cy="64008"/>
          </a:xfrm>
          <a:prstGeom prst="rect">
            <a:avLst/>
          </a:prstGeom>
          <a:solidFill>
            <a:srgbClr val="5B4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64008"/>
          </a:xfrm>
          <a:prstGeom prst="rect">
            <a:avLst/>
          </a:prstGeom>
          <a:solidFill>
            <a:srgbClr val="0E7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9601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140">
                <a:solidFill>
                  <a:srgbClr val="0E767E"/>
                </a:solidFill>
                <a:latin typeface="Consolas"/>
              </a:rPr>
              <a:t>MONARCH · CONTROLS → PYTHON MIGRATION · UPDATE 2 · 2026-07-07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91495" y="27432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5C6B78"/>
                </a:solidFill>
                <a:latin typeface="Consolas"/>
              </a:rPr>
              <a:t>2 /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12064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6222D"/>
                </a:solidFill>
                <a:latin typeface="Segoe UI"/>
              </a:rPr>
              <a:t>The first “brain” is ported — and it matches, live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5C6B78"/>
                </a:solidFill>
                <a:latin typeface="Segoe UI"/>
              </a:rPr>
              <a:t>The 9056’s supervisory state machine (SAFE → STANDBY → MOTORING → IDLING → FIRING) and its warning policy were rebuilt in Python, then run in </a:t>
            </a:r>
            <a:r>
              <a:rPr sz="1350" b="1">
                <a:solidFill>
                  <a:srgbClr val="16222D"/>
                </a:solidFill>
                <a:latin typeface="Segoe UI"/>
              </a:rPr>
              <a:t>shadow mode</a:t>
            </a:r>
            <a:r>
              <a:rPr sz="1350" b="0">
                <a:solidFill>
                  <a:srgbClr val="5C6B78"/>
                </a:solidFill>
                <a:latin typeface="Segoe UI"/>
              </a:rPr>
              <a:t>: LabVIEW keeps deciding for real, Python decides in parallel from the same live data, and every frame is compared.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12848"/>
            <a:ext cx="5349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110">
                <a:solidFill>
                  <a:srgbClr val="5C6B78"/>
                </a:solidFill>
                <a:latin typeface="Consolas"/>
              </a:rPr>
              <a:t>WHAT WE DID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2505456"/>
            <a:ext cx="5349239" cy="0"/>
          </a:xfrm>
          <a:prstGeom prst="bentConnector3">
            <a:avLst/>
          </a:prstGeom>
          <a:ln w="12700">
            <a:solidFill>
              <a:srgbClr val="E2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2670048"/>
            <a:ext cx="534924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250" b="1">
                <a:solidFill>
                  <a:srgbClr val="0E767E"/>
                </a:solidFill>
                <a:latin typeface="Segoe UI"/>
              </a:rPr>
              <a:t>▪  </a:t>
            </a:r>
            <a:r>
              <a:rPr sz="1250" b="0">
                <a:solidFill>
                  <a:srgbClr val="16222D"/>
                </a:solidFill>
                <a:latin typeface="Segoe UI"/>
              </a:rPr>
              <a:t>Transcribed the state machine and warning logic from the LabVIEW diagrams into </a:t>
            </a:r>
            <a:r>
              <a:rPr sz="1250" b="1">
                <a:solidFill>
                  <a:srgbClr val="16222D"/>
                </a:solidFill>
                <a:latin typeface="Segoe UI"/>
              </a:rPr>
              <a:t>plain, testable Python</a:t>
            </a:r>
            <a:r>
              <a:rPr sz="1250" b="0">
                <a:solidFill>
                  <a:srgbClr val="16222D"/>
                </a:solidFill>
                <a:latin typeface="Segoe UI"/>
              </a:rPr>
              <a:t> — pure logic, no hardware access, by design.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250" b="1">
                <a:solidFill>
                  <a:srgbClr val="0E767E"/>
                </a:solidFill>
                <a:latin typeface="Segoe UI"/>
              </a:rPr>
              <a:t>▪  </a:t>
            </a:r>
            <a:r>
              <a:rPr sz="1250" b="0">
                <a:solidFill>
                  <a:srgbClr val="16222D"/>
                </a:solidFill>
                <a:latin typeface="Segoe UI"/>
              </a:rPr>
              <a:t>Built a </a:t>
            </a:r>
            <a:r>
              <a:rPr sz="1250" b="1">
                <a:solidFill>
                  <a:srgbClr val="16222D"/>
                </a:solidFill>
                <a:latin typeface="Segoe UI"/>
              </a:rPr>
              <a:t>shadow-compare harness</a:t>
            </a:r>
            <a:r>
              <a:rPr sz="1250" b="0">
                <a:solidFill>
                  <a:srgbClr val="16222D"/>
                </a:solidFill>
                <a:latin typeface="Segoe UI"/>
              </a:rPr>
              <a:t> that replays every telemetry frame through the Python port and flags any decision that differs from LabVIEW’s.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250" b="1">
                <a:solidFill>
                  <a:srgbClr val="0E767E"/>
                </a:solidFill>
                <a:latin typeface="Segoe UI"/>
              </a:rPr>
              <a:t>▪  </a:t>
            </a:r>
            <a:r>
              <a:rPr sz="1250" b="0">
                <a:solidFill>
                  <a:srgbClr val="16222D"/>
                </a:solidFill>
                <a:latin typeface="Segoe UI"/>
              </a:rPr>
              <a:t>Exercised the </a:t>
            </a:r>
            <a:r>
              <a:rPr sz="1250" b="1">
                <a:solidFill>
                  <a:srgbClr val="16222D"/>
                </a:solidFill>
                <a:latin typeface="Segoe UI"/>
              </a:rPr>
              <a:t>whole envelope live</a:t>
            </a:r>
            <a:r>
              <a:rPr sz="1250" b="0">
                <a:solidFill>
                  <a:srgbClr val="16222D"/>
                </a:solidFill>
                <a:latin typeface="Segoe UI"/>
              </a:rPr>
              <a:t>: every state, mode walks up to FIRING, e-stop, manual overrides, and the warning clamp.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636007"/>
            <a:ext cx="5349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spc="70">
                <a:solidFill>
                  <a:srgbClr val="5C6B78"/>
                </a:solidFill>
                <a:latin typeface="Consolas"/>
              </a:rPr>
              <a:t>SHADOW MODE · SAME DATA, TWO BRAINS, EVERY FRAME COMPARED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937759"/>
            <a:ext cx="1783080" cy="896112"/>
          </a:xfrm>
          <a:prstGeom prst="roundRect">
            <a:avLst>
              <a:gd name="adj" fmla="val 9000"/>
            </a:avLst>
          </a:prstGeom>
          <a:solidFill>
            <a:srgbClr val="E0F0F0"/>
          </a:solidFill>
          <a:ln w="12700">
            <a:solidFill>
              <a:srgbClr val="C4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0E767E"/>
                </a:solidFill>
                <a:latin typeface="Consolas"/>
              </a:rPr>
              <a:t>IN CHARGE</a:t>
            </a:r>
          </a:p>
          <a:p>
            <a:pPr algn="ctr">
              <a:spcAft>
                <a:spcPts val="0"/>
              </a:spcAft>
            </a:pPr>
            <a:r>
              <a:rPr sz="1500" b="1">
                <a:solidFill>
                  <a:srgbClr val="0E767E"/>
                </a:solidFill>
                <a:latin typeface="Segoe UI"/>
              </a:rPr>
              <a:t>LabVIEW</a:t>
            </a:r>
          </a:p>
          <a:p>
            <a:pPr algn="ctr">
              <a:spcAft>
                <a:spcPts val="0"/>
              </a:spcAft>
            </a:pPr>
            <a:r>
              <a:rPr sz="950" b="0">
                <a:solidFill>
                  <a:srgbClr val="0E767E"/>
                </a:solidFill>
                <a:latin typeface="Segoe UI"/>
              </a:rPr>
              <a:t>decides &amp; acts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69080" y="4937759"/>
            <a:ext cx="1783080" cy="896112"/>
          </a:xfrm>
          <a:prstGeom prst="roundRect">
            <a:avLst>
              <a:gd name="adj" fmla="val 9000"/>
            </a:avLst>
          </a:prstGeom>
          <a:solidFill>
            <a:srgbClr val="EDEAFA"/>
          </a:solidFill>
          <a:ln w="12700">
            <a:solidFill>
              <a:srgbClr val="D6CE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46C9"/>
                </a:solidFill>
                <a:latin typeface="Consolas"/>
              </a:rPr>
              <a:t>SHADOW</a:t>
            </a:r>
          </a:p>
          <a:p>
            <a:pPr algn="ctr">
              <a:spcAft>
                <a:spcPts val="0"/>
              </a:spcAft>
            </a:pPr>
            <a:r>
              <a:rPr sz="1500" b="1">
                <a:solidFill>
                  <a:srgbClr val="5B46C9"/>
                </a:solidFill>
                <a:latin typeface="Segoe UI"/>
              </a:rPr>
              <a:t>Python</a:t>
            </a:r>
          </a:p>
          <a:p>
            <a:pPr algn="ctr">
              <a:spcAft>
                <a:spcPts val="0"/>
              </a:spcAft>
            </a:pPr>
            <a:r>
              <a:rPr sz="950" b="0">
                <a:solidFill>
                  <a:srgbClr val="5B46C9"/>
                </a:solidFill>
                <a:latin typeface="Segoe UI"/>
              </a:rPr>
              <a:t>decides, sends nothing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13432" y="4983479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0E767E"/>
                </a:solidFill>
                <a:latin typeface="Consolas"/>
              </a:rPr>
              <a:t>live data 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20240" y="5971031"/>
            <a:ext cx="2514600" cy="420624"/>
          </a:xfrm>
          <a:prstGeom prst="roundRect">
            <a:avLst>
              <a:gd name="adj" fmla="val 50000"/>
            </a:avLst>
          </a:prstGeom>
          <a:solidFill>
            <a:srgbClr val="E3F4EB"/>
          </a:solidFill>
          <a:ln w="12700">
            <a:solidFill>
              <a:srgbClr val="BFE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C914F"/>
                </a:solidFill>
                <a:latin typeface="Consolas"/>
              </a:rPr>
              <a:t>same decision?  ✔ yes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212848"/>
            <a:ext cx="54223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110">
                <a:solidFill>
                  <a:srgbClr val="5C6B78"/>
                </a:solidFill>
                <a:latin typeface="Consolas"/>
              </a:rPr>
              <a:t>THE RESULT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63640" y="2505456"/>
            <a:ext cx="5422392" cy="0"/>
          </a:xfrm>
          <a:prstGeom prst="bentConnector3">
            <a:avLst/>
          </a:prstGeom>
          <a:ln w="12700">
            <a:solidFill>
              <a:srgbClr val="E2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63640" y="2651760"/>
            <a:ext cx="4754880" cy="402336"/>
          </a:xfrm>
          <a:prstGeom prst="roundRect">
            <a:avLst>
              <a:gd name="adj" fmla="val 50000"/>
            </a:avLst>
          </a:prstGeom>
          <a:solidFill>
            <a:srgbClr val="E3F4EB"/>
          </a:solidFill>
          <a:ln w="12700">
            <a:solidFill>
              <a:srgbClr val="BFE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C914F"/>
                </a:solidFill>
                <a:latin typeface="Segoe UI"/>
              </a:rPr>
              <a:t>✔  100% agreement — all 5 states, every input tested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3218688"/>
            <a:ext cx="5422392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250" b="1">
                <a:solidFill>
                  <a:srgbClr val="0E767E"/>
                </a:solidFill>
                <a:latin typeface="Segoe UI"/>
              </a:rPr>
              <a:t>▪  </a:t>
            </a:r>
            <a:r>
              <a:rPr sz="1250" b="0">
                <a:solidFill>
                  <a:srgbClr val="16222D"/>
                </a:solidFill>
                <a:latin typeface="Segoe UI"/>
              </a:rPr>
              <a:t>Full-envelope live sessions: </a:t>
            </a:r>
            <a:r>
              <a:rPr sz="1250" b="1">
                <a:solidFill>
                  <a:srgbClr val="16222D"/>
                </a:solidFill>
                <a:latin typeface="Segoe UI"/>
              </a:rPr>
              <a:t>override sweep 100%, e-stop 100%, mode walk 100%</a:t>
            </a:r>
            <a:r>
              <a:rPr sz="1250" b="0">
                <a:solidFill>
                  <a:srgbClr val="16222D"/>
                </a:solidFill>
                <a:latin typeface="Segoe UI"/>
              </a:rPr>
              <a:t>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250" b="1">
                <a:solidFill>
                  <a:srgbClr val="0E767E"/>
                </a:solidFill>
                <a:latin typeface="Segoe UI"/>
              </a:rPr>
              <a:t>▪  </a:t>
            </a:r>
            <a:r>
              <a:rPr sz="1250" b="0">
                <a:solidFill>
                  <a:srgbClr val="16222D"/>
                </a:solidFill>
                <a:latin typeface="Segoe UI"/>
              </a:rPr>
              <a:t>Longest walk (210 frames): the actuator limiter matched </a:t>
            </a:r>
            <a:r>
              <a:rPr sz="1250" b="1">
                <a:solidFill>
                  <a:srgbClr val="16222D"/>
                </a:solidFill>
                <a:latin typeface="Segoe UI"/>
              </a:rPr>
              <a:t>209/209</a:t>
            </a:r>
            <a:r>
              <a:rPr sz="1250" b="0">
                <a:solidFill>
                  <a:srgbClr val="16222D"/>
                </a:solidFill>
                <a:latin typeface="Segoe UI"/>
              </a:rPr>
              <a:t>; the state matched 208/209 — the single differing frame was traced to a telemetry timing artifact in the test tap, </a:t>
            </a:r>
            <a:r>
              <a:rPr sz="1250" b="1">
                <a:solidFill>
                  <a:srgbClr val="16222D"/>
                </a:solidFill>
                <a:latin typeface="Segoe UI"/>
              </a:rPr>
              <a:t>not the ported logic</a:t>
            </a:r>
            <a:r>
              <a:rPr sz="1250" b="0">
                <a:solidFill>
                  <a:srgbClr val="16222D"/>
                </a:solidFill>
                <a:latin typeface="Segoe UI"/>
              </a:rPr>
              <a:t>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250" b="1">
                <a:solidFill>
                  <a:srgbClr val="0E767E"/>
                </a:solidFill>
                <a:latin typeface="Segoe UI"/>
              </a:rPr>
              <a:t>▪  </a:t>
            </a:r>
            <a:r>
              <a:rPr sz="1250" b="0">
                <a:solidFill>
                  <a:srgbClr val="16222D"/>
                </a:solidFill>
                <a:latin typeface="Segoe UI"/>
              </a:rPr>
              <a:t>Every difference found along the way is logged and dispositioned in </a:t>
            </a:r>
            <a:r>
              <a:rPr sz="1250" b="1">
                <a:solidFill>
                  <a:srgbClr val="16222D"/>
                </a:solidFill>
                <a:latin typeface="Segoe UI"/>
              </a:rPr>
              <a:t>docs/shadow-findings.md</a:t>
            </a:r>
            <a:r>
              <a:rPr sz="1250" b="0">
                <a:solidFill>
                  <a:srgbClr val="16222D"/>
                </a:solidFill>
                <a:latin typeface="Segoe UI"/>
              </a:rPr>
              <a:t>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5074920"/>
            <a:ext cx="131673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1C914F"/>
                </a:solidFill>
                <a:latin typeface="Consolas"/>
              </a:rPr>
              <a:t>✓ </a:t>
            </a:r>
            <a:r>
              <a:rPr sz="1100">
                <a:solidFill>
                  <a:srgbClr val="16222D"/>
                </a:solidFill>
                <a:latin typeface="Consolas"/>
              </a:rPr>
              <a:t>5/5 states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08392" y="5074920"/>
            <a:ext cx="95097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1C914F"/>
                </a:solidFill>
                <a:latin typeface="Consolas"/>
              </a:rPr>
              <a:t>✓ </a:t>
            </a:r>
            <a:r>
              <a:rPr sz="1100">
                <a:solidFill>
                  <a:srgbClr val="16222D"/>
                </a:solidFill>
                <a:latin typeface="Consolas"/>
              </a:rPr>
              <a:t>e-stop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87384" y="5074920"/>
            <a:ext cx="12252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1C914F"/>
                </a:solidFill>
                <a:latin typeface="Consolas"/>
              </a:rPr>
              <a:t>✓ </a:t>
            </a:r>
            <a:r>
              <a:rPr sz="1100">
                <a:solidFill>
                  <a:srgbClr val="16222D"/>
                </a:solidFill>
                <a:latin typeface="Consolas"/>
              </a:rPr>
              <a:t>overrides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40696" y="5074920"/>
            <a:ext cx="159105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1C914F"/>
                </a:solidFill>
                <a:latin typeface="Consolas"/>
              </a:rPr>
              <a:t>✓ </a:t>
            </a:r>
            <a:r>
              <a:rPr sz="1100">
                <a:solidFill>
                  <a:srgbClr val="16222D"/>
                </a:solidFill>
                <a:latin typeface="Consolas"/>
              </a:rPr>
              <a:t>warning clamp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263640" y="5669280"/>
            <a:ext cx="5422392" cy="0"/>
          </a:xfrm>
          <a:prstGeom prst="bentConnector3">
            <a:avLst/>
          </a:prstGeom>
          <a:ln w="12700">
            <a:solidFill>
              <a:srgbClr val="E2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263640" y="5806440"/>
            <a:ext cx="542239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6222D"/>
                </a:solidFill>
                <a:latin typeface="Segoe UI"/>
              </a:rPr>
              <a:t>Bonus finding:  </a:t>
            </a:r>
            <a:r>
              <a:rPr sz="1100" b="0">
                <a:solidFill>
                  <a:srgbClr val="5C6B78"/>
                </a:solidFill>
                <a:latin typeface="Segoe UI"/>
              </a:rPr>
              <a:t>shadow compare also exposed dead code — LabVIEW’s “Limited” output and two developer override switches were never wired to anything. The port is already paying for itself as an audit of the original code.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5847" cy="64008"/>
          </a:xfrm>
          <a:prstGeom prst="rect">
            <a:avLst/>
          </a:prstGeom>
          <a:solidFill>
            <a:srgbClr val="5B4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64008"/>
          </a:xfrm>
          <a:prstGeom prst="rect">
            <a:avLst/>
          </a:prstGeom>
          <a:solidFill>
            <a:srgbClr val="0E7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9601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140">
                <a:solidFill>
                  <a:srgbClr val="0E767E"/>
                </a:solidFill>
                <a:latin typeface="Consolas"/>
              </a:rPr>
              <a:t>MONARCH · CONTROLS → PYTHON MIGRATION · UPDATE 2 · 2026-07-07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91495" y="27432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5C6B78"/>
                </a:solidFill>
                <a:latin typeface="Consolas"/>
              </a:rPr>
              <a:t>3 /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12064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6222D"/>
                </a:solidFill>
                <a:latin typeface="Segoe UI"/>
              </a:rPr>
              <a:t>Found and fixed: a safety gap older than this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5C6B78"/>
                </a:solidFill>
                <a:latin typeface="Segoe UI"/>
              </a:rPr>
              <a:t>While mapping the LabVIEW code we found that the engine cRIO </a:t>
            </a:r>
            <a:r>
              <a:rPr sz="1350" b="1">
                <a:solidFill>
                  <a:srgbClr val="16222D"/>
                </a:solidFill>
                <a:latin typeface="Segoe UI"/>
              </a:rPr>
              <a:t>detected</a:t>
            </a:r>
            <a:r>
              <a:rPr sz="1350" b="0">
                <a:solidFill>
                  <a:srgbClr val="5C6B78"/>
                </a:solidFill>
                <a:latin typeface="Segoe UI"/>
              </a:rPr>
              <a:t> a lost control-room PC — but the response was never wired in. The alarm rang and nothing was listening. This is original-code behaviour, not something Python introduced.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12848"/>
            <a:ext cx="5349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110">
                <a:solidFill>
                  <a:srgbClr val="B45B0E"/>
                </a:solidFill>
                <a:latin typeface="Consolas"/>
              </a:rPr>
              <a:t>BEFORE — DETECTION WITHOUT RESPONSE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2505456"/>
            <a:ext cx="5349239" cy="0"/>
          </a:xfrm>
          <a:prstGeom prst="bentConnector3">
            <a:avLst/>
          </a:prstGeom>
          <a:ln w="12700">
            <a:solidFill>
              <a:srgbClr val="E2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2670048"/>
            <a:ext cx="53492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250" b="1">
                <a:solidFill>
                  <a:srgbClr val="B45B0E"/>
                </a:solidFill>
                <a:latin typeface="Segoe UI"/>
              </a:rPr>
              <a:t>▪  </a:t>
            </a:r>
            <a:r>
              <a:rPr sz="1250" b="0">
                <a:solidFill>
                  <a:srgbClr val="16222D"/>
                </a:solidFill>
                <a:latin typeface="Segoe UI"/>
              </a:rPr>
              <a:t>The watchdog computed a “PC not responding” flag…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250" b="1">
                <a:solidFill>
                  <a:srgbClr val="B45B0E"/>
                </a:solidFill>
                <a:latin typeface="Segoe UI"/>
              </a:rPr>
              <a:t>▪  </a:t>
            </a:r>
            <a:r>
              <a:rPr sz="1250" b="0">
                <a:solidFill>
                  <a:srgbClr val="16222D"/>
                </a:solidFill>
                <a:latin typeface="Segoe UI"/>
              </a:rPr>
              <a:t>…but the flag </a:t>
            </a:r>
            <a:r>
              <a:rPr sz="1250" b="1">
                <a:solidFill>
                  <a:srgbClr val="16222D"/>
                </a:solidFill>
                <a:latin typeface="Segoe UI"/>
              </a:rPr>
              <a:t>gated nothing</a:t>
            </a:r>
            <a:r>
              <a:rPr sz="1250" b="0">
                <a:solidFill>
                  <a:srgbClr val="16222D"/>
                </a:solidFill>
                <a:latin typeface="Segoe UI"/>
              </a:rPr>
              <a:t> — no state change, no safe hold, no operator alarm.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250" b="1">
                <a:solidFill>
                  <a:srgbClr val="B45B0E"/>
                </a:solidFill>
                <a:latin typeface="Segoe UI"/>
              </a:rPr>
              <a:t>▪  </a:t>
            </a:r>
            <a:r>
              <a:rPr sz="1250" b="0">
                <a:solidFill>
                  <a:srgbClr val="16222D"/>
                </a:solidFill>
                <a:latin typeface="Segoe UI"/>
              </a:rPr>
              <a:t>A crashed PC (LabVIEW UI </a:t>
            </a:r>
            <a:r>
              <a:rPr sz="1250" b="1">
                <a:solidFill>
                  <a:srgbClr val="16222D"/>
                </a:solidFill>
                <a:latin typeface="Segoe UI"/>
              </a:rPr>
              <a:t>or</a:t>
            </a:r>
            <a:r>
              <a:rPr sz="1250" b="0">
                <a:solidFill>
                  <a:srgbClr val="16222D"/>
                </a:solidFill>
                <a:latin typeface="Segoe UI"/>
              </a:rPr>
              <a:t> Python) would have left the engine running open-loop on stale commands.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315968"/>
            <a:ext cx="5349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110">
                <a:solidFill>
                  <a:srgbClr val="1C914F"/>
                </a:solidFill>
                <a:latin typeface="Consolas"/>
              </a:rPr>
              <a:t>AFTER — WIRED, SIZED, AND PROVEN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2920" y="4608576"/>
            <a:ext cx="5349239" cy="0"/>
          </a:xfrm>
          <a:prstGeom prst="bentConnector3">
            <a:avLst/>
          </a:prstGeom>
          <a:ln w="12700">
            <a:solidFill>
              <a:srgbClr val="E2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2920" y="4754880"/>
            <a:ext cx="53492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250" b="1">
                <a:solidFill>
                  <a:srgbClr val="1C914F"/>
                </a:solidFill>
                <a:latin typeface="Segoe UI"/>
              </a:rPr>
              <a:t>▪  </a:t>
            </a:r>
            <a:r>
              <a:rPr sz="1250" b="0">
                <a:solidFill>
                  <a:srgbClr val="16222D"/>
                </a:solidFill>
                <a:latin typeface="Segoe UI"/>
              </a:rPr>
              <a:t>The watchdog now drives the state machine: lose the PC heartbeat for 5 s and the cRIO </a:t>
            </a:r>
            <a:r>
              <a:rPr sz="1250" b="1">
                <a:solidFill>
                  <a:srgbClr val="16222D"/>
                </a:solidFill>
                <a:latin typeface="Segoe UI"/>
              </a:rPr>
              <a:t>clamps itself to SAFE</a:t>
            </a:r>
            <a:r>
              <a:rPr sz="1250" b="0">
                <a:solidFill>
                  <a:srgbClr val="16222D"/>
                </a:solidFill>
                <a:latin typeface="Segoe UI"/>
              </a:rPr>
              <a:t> — with the LabVIEW UI today or Python later.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250" b="1">
                <a:solidFill>
                  <a:srgbClr val="1C914F"/>
                </a:solidFill>
                <a:latin typeface="Segoe UI"/>
              </a:rPr>
              <a:t>▪  </a:t>
            </a:r>
            <a:r>
              <a:rPr sz="1250" b="0">
                <a:solidFill>
                  <a:srgbClr val="16222D"/>
                </a:solidFill>
                <a:latin typeface="Segoe UI"/>
              </a:rPr>
              <a:t>Threshold sized deliberately: 5 s ≈ 250 ticks of the ~20 ms control loop — rides out normal jitter, still trips fast.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212848"/>
            <a:ext cx="54223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110">
                <a:solidFill>
                  <a:srgbClr val="5C6B78"/>
                </a:solidFill>
                <a:latin typeface="Consolas"/>
              </a:rPr>
              <a:t>PROVEN WITH A LIVE PULL-THE-PLUG TEST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263640" y="2505456"/>
            <a:ext cx="5422392" cy="0"/>
          </a:xfrm>
          <a:prstGeom prst="bentConnector3">
            <a:avLst/>
          </a:prstGeom>
          <a:ln w="12700">
            <a:solidFill>
              <a:srgbClr val="E2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63640" y="2697480"/>
            <a:ext cx="5056631" cy="566928"/>
          </a:xfrm>
          <a:prstGeom prst="roundRect">
            <a:avLst>
              <a:gd name="adj" fmla="val 12000"/>
            </a:avLst>
          </a:prstGeom>
          <a:solidFill>
            <a:srgbClr val="FBF0E2"/>
          </a:solidFill>
          <a:ln w="12700">
            <a:solidFill>
              <a:srgbClr val="F0DD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 algn="l"/>
            <a:r>
              <a:rPr sz="1300" b="1">
                <a:solidFill>
                  <a:srgbClr val="B45B0E"/>
                </a:solidFill>
                <a:latin typeface="Consolas"/>
              </a:rPr>
              <a:t>1  </a:t>
            </a:r>
            <a:r>
              <a:rPr sz="1250" b="1">
                <a:solidFill>
                  <a:srgbClr val="B45B0E"/>
                </a:solidFill>
                <a:latin typeface="Segoe UI"/>
              </a:rPr>
              <a:t>PC link dropped — </a:t>
            </a:r>
            <a:r>
              <a:rPr sz="1150">
                <a:solidFill>
                  <a:srgbClr val="16222D"/>
                </a:solidFill>
                <a:latin typeface="Segoe UI"/>
              </a:rPr>
              <a:t>heartbeat stops mid-run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374136"/>
            <a:ext cx="5056631" cy="566928"/>
          </a:xfrm>
          <a:prstGeom prst="roundRect">
            <a:avLst>
              <a:gd name="adj" fmla="val 12000"/>
            </a:avLst>
          </a:prstGeom>
          <a:solidFill>
            <a:srgbClr val="E3F4EB"/>
          </a:solidFill>
          <a:ln w="12700">
            <a:solidFill>
              <a:srgbClr val="BFE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 algn="l"/>
            <a:r>
              <a:rPr sz="1300" b="1">
                <a:solidFill>
                  <a:srgbClr val="1C914F"/>
                </a:solidFill>
                <a:latin typeface="Consolas"/>
              </a:rPr>
              <a:t>2  </a:t>
            </a:r>
            <a:r>
              <a:rPr sz="1250" b="1">
                <a:solidFill>
                  <a:srgbClr val="1C914F"/>
                </a:solidFill>
                <a:latin typeface="Segoe UI"/>
              </a:rPr>
              <a:t>cRIO reacts alone — </a:t>
            </a:r>
            <a:r>
              <a:rPr sz="1150">
                <a:solidFill>
                  <a:srgbClr val="16222D"/>
                </a:solidFill>
                <a:latin typeface="Segoe UI"/>
              </a:rPr>
              <a:t>watchdog trips → system clamps to SAFE and holds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4050792"/>
            <a:ext cx="5056631" cy="566928"/>
          </a:xfrm>
          <a:prstGeom prst="roundRect">
            <a:avLst>
              <a:gd name="adj" fmla="val 12000"/>
            </a:avLst>
          </a:prstGeom>
          <a:solidFill>
            <a:srgbClr val="E0F0F0"/>
          </a:solidFill>
          <a:ln w="12700">
            <a:solidFill>
              <a:srgbClr val="C4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 algn="l"/>
            <a:r>
              <a:rPr sz="1300" b="1">
                <a:solidFill>
                  <a:srgbClr val="0E767E"/>
                </a:solidFill>
                <a:latin typeface="Consolas"/>
              </a:rPr>
              <a:t>3  </a:t>
            </a:r>
            <a:r>
              <a:rPr sz="1250" b="1">
                <a:solidFill>
                  <a:srgbClr val="0E767E"/>
                </a:solidFill>
                <a:latin typeface="Segoe UI"/>
              </a:rPr>
              <a:t>PC returns — </a:t>
            </a:r>
            <a:r>
              <a:rPr sz="1150">
                <a:solidFill>
                  <a:srgbClr val="16222D"/>
                </a:solidFill>
                <a:latin typeface="Segoe UI"/>
              </a:rPr>
              <a:t>heartbeat resumes, warning clears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4727448"/>
            <a:ext cx="5056631" cy="566928"/>
          </a:xfrm>
          <a:prstGeom prst="roundRect">
            <a:avLst>
              <a:gd name="adj" fmla="val 12000"/>
            </a:avLst>
          </a:prstGeom>
          <a:solidFill>
            <a:srgbClr val="EDEAFA"/>
          </a:solidFill>
          <a:ln w="12700">
            <a:solidFill>
              <a:srgbClr val="D6CE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 algn="l"/>
            <a:r>
              <a:rPr sz="1300" b="1">
                <a:solidFill>
                  <a:srgbClr val="5B46C9"/>
                </a:solidFill>
                <a:latin typeface="Consolas"/>
              </a:rPr>
              <a:t>4  </a:t>
            </a:r>
            <a:r>
              <a:rPr sz="1250" b="1">
                <a:solidFill>
                  <a:srgbClr val="5B46C9"/>
                </a:solidFill>
                <a:latin typeface="Segoe UI"/>
              </a:rPr>
              <a:t>Controlled recovery — </a:t>
            </a:r>
            <a:r>
              <a:rPr sz="1150">
                <a:solidFill>
                  <a:srgbClr val="16222D"/>
                </a:solidFill>
                <a:latin typeface="Segoe UI"/>
              </a:rPr>
              <a:t>state climbs back one step per tick — no jump to run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5458968"/>
            <a:ext cx="5056631" cy="402336"/>
          </a:xfrm>
          <a:prstGeom prst="roundRect">
            <a:avLst>
              <a:gd name="adj" fmla="val 50000"/>
            </a:avLst>
          </a:prstGeom>
          <a:solidFill>
            <a:srgbClr val="E3F4EB"/>
          </a:solidFill>
          <a:ln w="12700">
            <a:solidFill>
              <a:srgbClr val="BFE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1C914F"/>
                </a:solidFill>
                <a:latin typeface="Segoe UI"/>
              </a:rPr>
              <a:t>✔  Python’s shadow agreed on every frame of the episode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02920" y="5989320"/>
            <a:ext cx="11185855" cy="0"/>
          </a:xfrm>
          <a:prstGeom prst="bentConnector3">
            <a:avLst/>
          </a:prstGeom>
          <a:ln w="12700">
            <a:solidFill>
              <a:srgbClr val="E2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02920" y="6144768"/>
            <a:ext cx="1118585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6222D"/>
                </a:solidFill>
                <a:latin typeface="Segoe UI"/>
              </a:rPr>
              <a:t>Why this matters:  </a:t>
            </a:r>
            <a:r>
              <a:rPr sz="1150" b="0">
                <a:solidFill>
                  <a:srgbClr val="5C6B78"/>
                </a:solidFill>
                <a:latin typeface="Segoe UI"/>
              </a:rPr>
              <a:t>“if the PC dies, the engine safe-holds” was the one unverified assumption in the migration’s safety case — and the gate before Python may ever hold command authority. It is now enforced in the cRIO and demonstrated, not assumed.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5847" cy="64008"/>
          </a:xfrm>
          <a:prstGeom prst="rect">
            <a:avLst/>
          </a:prstGeom>
          <a:solidFill>
            <a:srgbClr val="5B4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64008"/>
          </a:xfrm>
          <a:prstGeom prst="rect">
            <a:avLst/>
          </a:prstGeom>
          <a:solidFill>
            <a:srgbClr val="0E7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9601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140">
                <a:solidFill>
                  <a:srgbClr val="0E767E"/>
                </a:solidFill>
                <a:latin typeface="Consolas"/>
              </a:rPr>
              <a:t>MONARCH · CONTROLS → PYTHON MIGRATION · UPDATE 2 · 2026-07-07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91495" y="27432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5C6B78"/>
                </a:solidFill>
                <a:latin typeface="Consolas"/>
              </a:rPr>
              <a:t>4 /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12064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6222D"/>
                </a:solidFill>
                <a:latin typeface="Segoe UI"/>
              </a:rPr>
              <a:t>Built ahead: the Python side of every phase is ready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5C6B78"/>
                </a:solidFill>
                <a:latin typeface="Segoe UI"/>
              </a:rPr>
              <a:t>The roadmap runs A → E, each step gated by a safety review before Python gains any authority. The Python software for </a:t>
            </a:r>
            <a:r>
              <a:rPr sz="1350" b="1">
                <a:solidFill>
                  <a:srgbClr val="16222D"/>
                </a:solidFill>
                <a:latin typeface="Segoe UI"/>
              </a:rPr>
              <a:t>all five phases</a:t>
            </a:r>
            <a:r>
              <a:rPr sz="1350" b="0">
                <a:solidFill>
                  <a:srgbClr val="5C6B78"/>
                </a:solidFill>
                <a:latin typeface="Segoe UI"/>
              </a:rPr>
              <a:t> is written and tested — what remains is LabVIEW wiring, joint decisions, and team-supplied numbers.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212848"/>
            <a:ext cx="11185855" cy="676656"/>
          </a:xfrm>
          <a:prstGeom prst="roundRect">
            <a:avLst>
              <a:gd name="adj" fmla="val 10000"/>
            </a:avLst>
          </a:prstGeom>
          <a:solidFill>
            <a:srgbClr val="FAFBFC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12648" y="2322576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3F4EB"/>
          </a:solidFill>
          <a:ln w="12700">
            <a:solidFill>
              <a:srgbClr val="BFE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C914F"/>
                </a:solidFill>
                <a:latin typeface="Consola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6152" y="2304288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Segoe UI"/>
              </a:rPr>
              <a:t>Shadow brain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286000"/>
            <a:ext cx="5989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C6B78"/>
                </a:solidFill>
                <a:latin typeface="Segoe UI"/>
              </a:rPr>
              <a:t>state machine + warning policy ported; validated live against the real system — 100% agreement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2368296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E3F4EB"/>
          </a:solidFill>
          <a:ln w="12700">
            <a:solidFill>
              <a:srgbClr val="BFE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1C914F"/>
                </a:solidFill>
                <a:latin typeface="Consolas"/>
              </a:rPr>
              <a:t>DONE — VALIDATED LIVE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980944"/>
            <a:ext cx="11185855" cy="676656"/>
          </a:xfrm>
          <a:prstGeom prst="roundRect">
            <a:avLst>
              <a:gd name="adj" fmla="val 10000"/>
            </a:avLst>
          </a:prstGeom>
          <a:solidFill>
            <a:srgbClr val="FAFBFC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12648" y="309067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BF0E2"/>
          </a:solidFill>
          <a:ln w="12700">
            <a:solidFill>
              <a:srgbClr val="F0DD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B45B0E"/>
                </a:solidFill>
                <a:latin typeface="Consolas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072384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Segoe UI"/>
              </a:rPr>
              <a:t>Command path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3054096"/>
            <a:ext cx="5989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C6B78"/>
                </a:solidFill>
                <a:latin typeface="Segoe UI"/>
              </a:rPr>
              <a:t>Python commander built and drill-tested against a simulator; interface spec v0.2 frozen with the team; PC-loss watchdog closed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60" y="3136391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FBF0E2"/>
          </a:solidFill>
          <a:ln w="12700">
            <a:solidFill>
              <a:srgbClr val="F0DD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B45B0E"/>
                </a:solidFill>
                <a:latin typeface="Consolas"/>
              </a:rPr>
              <a:t>PYTHON DONE · LABVIEW NEXT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749039"/>
            <a:ext cx="11185855" cy="676656"/>
          </a:xfrm>
          <a:prstGeom prst="roundRect">
            <a:avLst>
              <a:gd name="adj" fmla="val 10000"/>
            </a:avLst>
          </a:prstGeom>
          <a:solidFill>
            <a:srgbClr val="FAFBFC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2648" y="385876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DEAFA"/>
          </a:solidFill>
          <a:ln w="12700">
            <a:solidFill>
              <a:srgbClr val="D6CE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5B46C9"/>
                </a:solidFill>
                <a:latin typeface="Consolas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2" y="3840479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Segoe UI"/>
              </a:rPr>
              <a:t>Operator 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3822191"/>
            <a:ext cx="5989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C6B78"/>
                </a:solidFill>
                <a:latin typeface="Segoe UI"/>
              </a:rPr>
              <a:t>engineering CLI + an alarm that flags any live divergence between Python and LabVIEW decisions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81160" y="3904487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EDEAFA"/>
          </a:solidFill>
          <a:ln w="12700">
            <a:solidFill>
              <a:srgbClr val="D6CE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5B46C9"/>
                </a:solidFill>
                <a:latin typeface="Consolas"/>
              </a:rPr>
              <a:t>BUILT — AWAITS PHASE 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517136"/>
            <a:ext cx="11185855" cy="676656"/>
          </a:xfrm>
          <a:prstGeom prst="roundRect">
            <a:avLst>
              <a:gd name="adj" fmla="val 10000"/>
            </a:avLst>
          </a:prstGeom>
          <a:solidFill>
            <a:srgbClr val="FAFBFC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12648" y="4626864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DEAFA"/>
          </a:solidFill>
          <a:ln w="12700">
            <a:solidFill>
              <a:srgbClr val="D6CE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5B46C9"/>
                </a:solidFill>
                <a:latin typeface="Consolas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608575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Segoe UI"/>
              </a:rPr>
              <a:t>Sequencing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4590288"/>
            <a:ext cx="5989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C6B78"/>
                </a:solidFill>
                <a:latin typeface="Segoe UI"/>
              </a:rPr>
              <a:t>step-by-step procedure engine + plant simulator; draft venting / purge / warm-up sequences survive randomized fault injection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81160" y="4672583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EDEAFA"/>
          </a:solidFill>
          <a:ln w="12700">
            <a:solidFill>
              <a:srgbClr val="D6CE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5B46C9"/>
                </a:solidFill>
                <a:latin typeface="Consolas"/>
              </a:rPr>
              <a:t>BUILT — NEEDS PROCEDURES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285231"/>
            <a:ext cx="11185855" cy="676656"/>
          </a:xfrm>
          <a:prstGeom prst="roundRect">
            <a:avLst>
              <a:gd name="adj" fmla="val 10000"/>
            </a:avLst>
          </a:prstGeom>
          <a:solidFill>
            <a:srgbClr val="FAFBFC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12648" y="5394959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DEAFA"/>
          </a:solidFill>
          <a:ln w="12700">
            <a:solidFill>
              <a:srgbClr val="D6CE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5B46C9"/>
                </a:solidFill>
                <a:latin typeface="Consolas"/>
              </a:rPr>
              <a:t>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6152" y="5376671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Segoe UI"/>
              </a:rPr>
              <a:t>Warnings &amp; setpoints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54680" y="5358383"/>
            <a:ext cx="5989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C6B78"/>
                </a:solidFill>
                <a:latin typeface="Segoe UI"/>
              </a:rPr>
              <a:t>time-based warning rules and setpoint scheduler engines, fully data-driven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81160" y="5440679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EDEAFA"/>
          </a:solidFill>
          <a:ln w="12700">
            <a:solidFill>
              <a:srgbClr val="D6CE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5B46C9"/>
                </a:solidFill>
                <a:latin typeface="Consolas"/>
              </a:rPr>
              <a:t>BUILT — NEEDS NUMBERS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02920" y="6144767"/>
            <a:ext cx="11185855" cy="0"/>
          </a:xfrm>
          <a:prstGeom prst="bentConnector3">
            <a:avLst/>
          </a:prstGeom>
          <a:ln w="12700">
            <a:solidFill>
              <a:srgbClr val="E2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02920" y="6272783"/>
            <a:ext cx="1118585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6222D"/>
                </a:solidFill>
                <a:latin typeface="Segoe UI"/>
              </a:rPr>
              <a:t>Also in place:  </a:t>
            </a:r>
            <a:r>
              <a:rPr sz="1150" b="0">
                <a:solidFill>
                  <a:srgbClr val="5C6B78"/>
                </a:solidFill>
                <a:latin typeface="Segoe UI"/>
              </a:rPr>
              <a:t>144+ automated tests run on every change (two Python versions); every remaining LabVIEW change is written up click-by-click so the work isn’t bottlenecked on any one person; a handoff guide covers how to continue the project.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5847" cy="64008"/>
          </a:xfrm>
          <a:prstGeom prst="rect">
            <a:avLst/>
          </a:prstGeom>
          <a:solidFill>
            <a:srgbClr val="5B4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64008"/>
          </a:xfrm>
          <a:prstGeom prst="rect">
            <a:avLst/>
          </a:prstGeom>
          <a:solidFill>
            <a:srgbClr val="0E7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9601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140">
                <a:solidFill>
                  <a:srgbClr val="0E767E"/>
                </a:solidFill>
                <a:latin typeface="Consolas"/>
              </a:rPr>
              <a:t>MONARCH · CONTROLS → PYTHON MIGRATION · UPDATE 2 · 2026-07-07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91495" y="27432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5C6B78"/>
                </a:solidFill>
                <a:latin typeface="Consolas"/>
              </a:rPr>
              <a:t>5 /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12064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6222D"/>
                </a:solidFill>
                <a:latin typeface="Segoe UI"/>
              </a:rPr>
              <a:t>What’s next — and what we need from the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6035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110">
                <a:solidFill>
                  <a:srgbClr val="5C6B78"/>
                </a:solidFill>
                <a:latin typeface="Consolas"/>
              </a:rPr>
              <a:t>NEXT STEPS (IN ORDER)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1801368"/>
            <a:ext cx="6035039" cy="0"/>
          </a:xfrm>
          <a:prstGeom prst="bentConnector3">
            <a:avLst/>
          </a:prstGeom>
          <a:ln w="12700">
            <a:solidFill>
              <a:srgbClr val="E2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502920" y="1993391"/>
            <a:ext cx="384048" cy="384048"/>
          </a:xfrm>
          <a:prstGeom prst="ellipse">
            <a:avLst/>
          </a:prstGeom>
          <a:solidFill>
            <a:srgbClr val="EDEAFA"/>
          </a:solidFill>
          <a:ln w="12700">
            <a:solidFill>
              <a:srgbClr val="D6CE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5B46C9"/>
                </a:solidFill>
                <a:latin typeface="Consola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965960"/>
            <a:ext cx="546811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Segoe UI"/>
              </a:rPr>
              <a:t>Wire the LabVIEW command path (B3)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258568"/>
            <a:ext cx="546811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C6B78"/>
                </a:solidFill>
                <a:latin typeface="Segoe UI"/>
              </a:rPr>
              <a:t>the gateway learns to accept Python’s requests — with LabVIEW still validating every one and a single switch choosing UI or Python as the source. Fully specified, node-by-node.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163823"/>
            <a:ext cx="384048" cy="384048"/>
          </a:xfrm>
          <a:prstGeom prst="ellipse">
            <a:avLst/>
          </a:prstGeom>
          <a:solidFill>
            <a:srgbClr val="EDEAFA"/>
          </a:solidFill>
          <a:ln w="12700">
            <a:solidFill>
              <a:srgbClr val="D6CE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5B46C9"/>
                </a:solidFill>
                <a:latin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3136391"/>
            <a:ext cx="546811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Segoe UI"/>
              </a:rPr>
              <a:t>Bench command drills (B4)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3428999"/>
            <a:ext cx="546811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C6B78"/>
                </a:solidFill>
                <a:latin typeface="Segoe UI"/>
              </a:rPr>
              <a:t>prove the failure story end-to-end: bad commands rejected, stale link means commands stop, source flips are clean, kill-Python-mid-run safe-holds.</a:t>
            </a:r>
          </a:p>
        </p:txBody>
      </p:sp>
      <p:sp>
        <p:nvSpPr>
          <p:cNvPr id="15" name="Oval 14"/>
          <p:cNvSpPr/>
          <p:nvPr/>
        </p:nvSpPr>
        <p:spPr>
          <a:xfrm>
            <a:off x="502920" y="4334256"/>
            <a:ext cx="384048" cy="384048"/>
          </a:xfrm>
          <a:prstGeom prst="ellipse">
            <a:avLst/>
          </a:prstGeom>
          <a:solidFill>
            <a:srgbClr val="EDEAFA"/>
          </a:solidFill>
          <a:ln w="12700">
            <a:solidFill>
              <a:srgbClr val="D6CE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5B46C9"/>
                </a:solidFill>
                <a:latin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4306824"/>
            <a:ext cx="546811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6222D"/>
                </a:solidFill>
                <a:latin typeface="Segoe UI"/>
              </a:rPr>
              <a:t>First supervised bench use (Phase C)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4599432"/>
            <a:ext cx="546811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C6B78"/>
                </a:solidFill>
                <a:latin typeface="Segoe UI"/>
              </a:rPr>
              <a:t>Python drives mode requests on the bench — operator watching, LabVIEW clamp always underneath, one-command handback to the UI.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1508760"/>
            <a:ext cx="46908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110">
                <a:solidFill>
                  <a:srgbClr val="5C6B78"/>
                </a:solidFill>
                <a:latin typeface="Consolas"/>
              </a:rPr>
              <a:t>WHAT WE NEED FROM THE TEAM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995160" y="1801368"/>
            <a:ext cx="4690872" cy="0"/>
          </a:xfrm>
          <a:prstGeom prst="bentConnector3">
            <a:avLst/>
          </a:prstGeom>
          <a:ln w="12700">
            <a:solidFill>
              <a:srgbClr val="E2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995160" y="1965960"/>
            <a:ext cx="46908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E767E"/>
                </a:solidFill>
                <a:latin typeface="Segoe UI"/>
              </a:rPr>
              <a:t>▪  </a:t>
            </a:r>
            <a:r>
              <a:rPr sz="1250" b="1">
                <a:solidFill>
                  <a:srgbClr val="16222D"/>
                </a:solidFill>
                <a:latin typeface="Segoe UI"/>
              </a:rPr>
              <a:t>Operating procedures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2240279"/>
            <a:ext cx="446227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C6B78"/>
                </a:solidFill>
                <a:latin typeface="Segoe UI"/>
              </a:rPr>
              <a:t>the venting / purge / warm-up sequences are drafted from engineering judgement — they need the team’s real steps, setpoints and hold conditions (template sheets ready)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3099815"/>
            <a:ext cx="46908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E767E"/>
                </a:solidFill>
                <a:latin typeface="Segoe UI"/>
              </a:rPr>
              <a:t>▪  </a:t>
            </a:r>
            <a:r>
              <a:rPr sz="1250" b="1">
                <a:solidFill>
                  <a:srgbClr val="16222D"/>
                </a:solidFill>
                <a:latin typeface="Segoe UI"/>
              </a:rPr>
              <a:t>Real numbers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3374135"/>
            <a:ext cx="446227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C6B78"/>
                </a:solidFill>
                <a:latin typeface="Segoe UI"/>
              </a:rPr>
              <a:t>warning thresholds, time windows and setpoint schedules are engine knowledge, not code — the engines are built and waiting for values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33672"/>
            <a:ext cx="46908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E767E"/>
                </a:solidFill>
                <a:latin typeface="Segoe UI"/>
              </a:rPr>
              <a:t>▪  </a:t>
            </a:r>
            <a:r>
              <a:rPr sz="1250" b="1">
                <a:solidFill>
                  <a:srgbClr val="16222D"/>
                </a:solidFill>
                <a:latin typeface="Segoe UI"/>
              </a:rPr>
              <a:t>Sign-off at each 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507992"/>
            <a:ext cx="446227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C6B78"/>
                </a:solidFill>
                <a:latin typeface="Segoe UI"/>
              </a:rPr>
              <a:t>every increase in Python’s authority (shadow → bench command → sequences) gets a joint review before it happens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806440"/>
            <a:ext cx="11185855" cy="658368"/>
          </a:xfrm>
          <a:prstGeom prst="roundRect">
            <a:avLst>
              <a:gd name="adj" fmla="val 10000"/>
            </a:avLst>
          </a:prstGeom>
          <a:solidFill>
            <a:srgbClr val="E0F0F0"/>
          </a:solidFill>
          <a:ln w="12700">
            <a:solidFill>
              <a:srgbClr val="C4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Ins="201168" rtlCol="0" anchor="ctr"/>
          <a:lstStyle/>
          <a:p>
            <a:pPr algn="ctr"/>
            <a:r>
              <a:rPr sz="1150" b="1">
                <a:solidFill>
                  <a:srgbClr val="0E767E"/>
                </a:solidFill>
                <a:latin typeface="Segoe UI"/>
              </a:rPr>
              <a:t>The rule that never changes:  </a:t>
            </a:r>
            <a:r>
              <a:rPr sz="1150" b="0">
                <a:solidFill>
                  <a:srgbClr val="16222D"/>
                </a:solidFill>
                <a:latin typeface="Segoe UI"/>
              </a:rPr>
              <a:t>LabVIEW/cRIO keeps the hardware, the interlocks and the safe fallback — permanently. Python only ever asks; LabVIEW checks every request; and if Python disappears, the system safe-holds. That last part is now proven, not assumed.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1389</Words>
  <Application>Microsoft Office PowerPoint</Application>
  <PresentationFormat>Widescreen</PresentationFormat>
  <Paragraphs>126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Guillaume Beardsell</cp:lastModifiedBy>
  <cp:revision>2</cp:revision>
  <dcterms:created xsi:type="dcterms:W3CDTF">2013-01-27T09:14:16Z</dcterms:created>
  <dcterms:modified xsi:type="dcterms:W3CDTF">2026-07-08T00:37:50Z</dcterms:modified>
  <cp:category/>
</cp:coreProperties>
</file>