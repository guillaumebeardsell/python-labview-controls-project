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418320" y="4572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">
                <a:solidFill>
                  <a:srgbClr val="938B7C"/>
                </a:solidFill>
                <a:latin typeface="Consolas"/>
              </a:rPr>
              <a:t>01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">
                <a:solidFill>
                  <a:srgbClr val="938B7C"/>
                </a:solidFill>
                <a:latin typeface="Consolas"/>
              </a:rPr>
              <a:t>◆ MONARCH · APC   /   CONTROLS UPDATE   /   11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1338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8211F"/>
                </a:solidFill>
                <a:latin typeface="Segoe UI"/>
              </a:rPr>
              <a:t>The control system now runs </a:t>
            </a:r>
            <a:r>
              <a:rPr sz="2500" b="1">
                <a:solidFill>
                  <a:srgbClr val="CF551F"/>
                </a:solidFill>
                <a:latin typeface="Segoe UI"/>
              </a:rPr>
              <a:t>on its own hardware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8211F"/>
                </a:solidFill>
                <a:latin typeface="Segoe UI"/>
              </a:rPr>
              <a:t>— and the engine analytics are proven.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C6559"/>
                </a:solidFill>
                <a:latin typeface="Segoe UI"/>
              </a:rPr>
              <a:t>Two milestones since the last update: (1) the control system boots with an executable GUI and fully autonomously on the cRIOs, and (2) the in-cylinder combustion analytics are validated against known-truth data (software-in-the-loop).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97480"/>
            <a:ext cx="5431536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697480"/>
            <a:ext cx="41148" cy="1700784"/>
          </a:xfrm>
          <a:prstGeom prst="rect">
            <a:avLst/>
          </a:prstGeom>
          <a:solidFill>
            <a:srgbClr val="CF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50976" y="2889504"/>
            <a:ext cx="991209" cy="256032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3C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9144" rIns="73152" bIns="914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C8B57"/>
                </a:solidFill>
                <a:latin typeface="Consolas"/>
              </a:rPr>
              <a:t>●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255264"/>
            <a:ext cx="4828032" cy="833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dirty="0">
                <a:solidFill>
                  <a:srgbClr val="18211F"/>
                </a:solidFill>
                <a:latin typeface="Segoe UI"/>
              </a:rPr>
              <a:t>Autonomous deployment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dirty="0">
                <a:solidFill>
                  <a:srgbClr val="6C6559"/>
                </a:solidFill>
                <a:latin typeface="Segoe UI"/>
              </a:rPr>
              <a:t>Both </a:t>
            </a:r>
            <a:r>
              <a:rPr sz="1050" b="0" dirty="0" err="1">
                <a:solidFill>
                  <a:srgbClr val="6C6559"/>
                </a:solidFill>
                <a:latin typeface="Segoe UI"/>
              </a:rPr>
              <a:t>cRIOs</a:t>
            </a:r>
            <a:r>
              <a:rPr sz="1050" b="0" dirty="0">
                <a:solidFill>
                  <a:srgbClr val="6C6559"/>
                </a:solidFill>
                <a:latin typeface="Segoe UI"/>
              </a:rPr>
              <a:t> boot their own applications at power-on — independent of Python and the LabVIEW HMI</a:t>
            </a:r>
            <a:r>
              <a:rPr lang="en-US" sz="1050" dirty="0">
                <a:solidFill>
                  <a:srgbClr val="6C6559"/>
                </a:solidFill>
                <a:latin typeface="Segoe UI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dirty="0" err="1">
                <a:solidFill>
                  <a:srgbClr val="6C6559"/>
                </a:solidFill>
                <a:latin typeface="Segoe UI"/>
              </a:rPr>
              <a:t>Labview</a:t>
            </a:r>
            <a:r>
              <a:rPr lang="en-US" sz="1050" dirty="0">
                <a:solidFill>
                  <a:srgbClr val="6C6559"/>
                </a:solidFill>
                <a:latin typeface="Segoe UI"/>
              </a:rPr>
              <a:t> </a:t>
            </a:r>
            <a:r>
              <a:rPr lang="en-US" sz="1050" b="0" dirty="0">
                <a:solidFill>
                  <a:srgbClr val="6C6559"/>
                </a:solidFill>
                <a:latin typeface="Segoe UI"/>
              </a:rPr>
              <a:t>GUI is compiled as .EXE. </a:t>
            </a:r>
            <a:endParaRPr sz="1050" b="0" dirty="0">
              <a:solidFill>
                <a:srgbClr val="6C6559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89904" y="2697480"/>
            <a:ext cx="5431536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9904" y="2697480"/>
            <a:ext cx="41148" cy="1700784"/>
          </a:xfrm>
          <a:prstGeom prst="rect">
            <a:avLst/>
          </a:prstGeom>
          <a:solidFill>
            <a:srgbClr val="1C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82512" y="2889504"/>
            <a:ext cx="2281428" cy="256032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3C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9144" rIns="73152" bIns="914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C8B57"/>
                </a:solidFill>
                <a:latin typeface="Consolas"/>
              </a:rPr>
              <a:t>● VALIDATED VS GROUND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3255264"/>
            <a:ext cx="4828032" cy="841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dirty="0">
                <a:solidFill>
                  <a:srgbClr val="18211F"/>
                </a:solidFill>
                <a:latin typeface="Segoe UI"/>
              </a:rPr>
              <a:t>Combustion analytics — </a:t>
            </a:r>
            <a:r>
              <a:rPr lang="en-US" sz="1400" b="1" dirty="0">
                <a:solidFill>
                  <a:srgbClr val="18211F"/>
                </a:solidFill>
                <a:latin typeface="Segoe UI"/>
              </a:rPr>
              <a:t>Software-in-the-loop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dirty="0">
                <a:solidFill>
                  <a:srgbClr val="18211F"/>
                </a:solidFill>
                <a:latin typeface="Segoe UI"/>
              </a:rPr>
              <a:t>All checks within tolerance.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dirty="0">
                <a:solidFill>
                  <a:srgbClr val="6C6559"/>
                </a:solidFill>
                <a:latin typeface="Segoe UI"/>
              </a:rPr>
              <a:t>IMEP, peak pressure and CA50 reproduce synthetic-truth data to ~0.001 bar / 0.1°.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590288"/>
            <a:ext cx="10863072" cy="1481328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D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4590288"/>
            <a:ext cx="41148" cy="1481328"/>
          </a:xfrm>
          <a:prstGeom prst="rect">
            <a:avLst/>
          </a:prstGeom>
          <a:solidFill>
            <a:srgbClr val="18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754880"/>
            <a:ext cx="10378440" cy="873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spc="6" dirty="0">
                <a:solidFill>
                  <a:srgbClr val="18211F"/>
                </a:solidFill>
                <a:latin typeface="Segoe UI"/>
              </a:rPr>
              <a:t>● ALSO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938B7C"/>
                </a:solidFill>
                <a:latin typeface="Segoe UI"/>
              </a:rPr>
              <a:t>•  </a:t>
            </a:r>
            <a:r>
              <a:rPr sz="1050" b="1" dirty="0">
                <a:solidFill>
                  <a:srgbClr val="18211F"/>
                </a:solidFill>
                <a:latin typeface="Segoe UI"/>
              </a:rPr>
              <a:t>Deployment </a:t>
            </a:r>
            <a:r>
              <a:rPr lang="en-US" sz="1050" b="1" dirty="0">
                <a:solidFill>
                  <a:srgbClr val="18211F"/>
                </a:solidFill>
                <a:latin typeface="Segoe UI"/>
              </a:rPr>
              <a:t>improved</a:t>
            </a:r>
            <a:r>
              <a:rPr sz="1050" b="0" dirty="0">
                <a:solidFill>
                  <a:srgbClr val="6C6559"/>
                </a:solidFill>
                <a:latin typeface="Segoe UI"/>
              </a:rPr>
              <a:t> — </a:t>
            </a:r>
            <a:r>
              <a:rPr lang="en-US" sz="1050" b="0" dirty="0">
                <a:solidFill>
                  <a:srgbClr val="6C6559"/>
                </a:solidFill>
                <a:latin typeface="Segoe UI"/>
              </a:rPr>
              <a:t>included </a:t>
            </a:r>
            <a:r>
              <a:rPr sz="1050" b="0" dirty="0">
                <a:solidFill>
                  <a:srgbClr val="6C6559"/>
                </a:solidFill>
                <a:latin typeface="Segoe UI"/>
              </a:rPr>
              <a:t>a self-healing loop on cRIO-9056 for error-free cold start.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938B7C"/>
                </a:solidFill>
                <a:latin typeface="Segoe UI"/>
              </a:rPr>
              <a:t>•  </a:t>
            </a:r>
            <a:r>
              <a:rPr sz="1050" b="1" dirty="0">
                <a:solidFill>
                  <a:srgbClr val="18211F"/>
                </a:solidFill>
                <a:latin typeface="Segoe UI"/>
              </a:rPr>
              <a:t>Safety </a:t>
            </a:r>
            <a:r>
              <a:rPr lang="en-US" sz="1050" b="1" dirty="0">
                <a:solidFill>
                  <a:srgbClr val="18211F"/>
                </a:solidFill>
                <a:latin typeface="Segoe UI"/>
              </a:rPr>
              <a:t>characteristics</a:t>
            </a:r>
            <a:r>
              <a:rPr sz="1050" b="1" dirty="0">
                <a:solidFill>
                  <a:srgbClr val="18211F"/>
                </a:solidFill>
                <a:latin typeface="Segoe UI"/>
              </a:rPr>
              <a:t> tested live</a:t>
            </a:r>
            <a:r>
              <a:rPr sz="1050" b="0" dirty="0">
                <a:solidFill>
                  <a:srgbClr val="6C6559"/>
                </a:solidFill>
                <a:latin typeface="Segoe UI"/>
              </a:rPr>
              <a:t> — Python/PC offline ⇒ </a:t>
            </a:r>
            <a:r>
              <a:rPr lang="en-US" sz="1050" b="0" dirty="0">
                <a:solidFill>
                  <a:srgbClr val="6C6559"/>
                </a:solidFill>
                <a:latin typeface="Segoe UI"/>
              </a:rPr>
              <a:t>safe mode </a:t>
            </a:r>
            <a:r>
              <a:rPr sz="1050" b="0" dirty="0">
                <a:solidFill>
                  <a:srgbClr val="6C6559"/>
                </a:solidFill>
                <a:latin typeface="Segoe UI"/>
              </a:rPr>
              <a:t>(emergency shutdown activated).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938B7C"/>
                </a:solidFill>
                <a:latin typeface="Segoe UI"/>
              </a:rPr>
              <a:t>•  </a:t>
            </a:r>
            <a:r>
              <a:rPr sz="1050" b="1" dirty="0">
                <a:solidFill>
                  <a:srgbClr val="18211F"/>
                </a:solidFill>
                <a:latin typeface="Segoe UI"/>
              </a:rPr>
              <a:t>Tooling &amp; docs</a:t>
            </a:r>
            <a:r>
              <a:rPr sz="1050" b="0" dirty="0">
                <a:solidFill>
                  <a:srgbClr val="6C6559"/>
                </a:solidFill>
                <a:latin typeface="Segoe UI"/>
              </a:rPr>
              <a:t> — synthetic-data generator + </a:t>
            </a:r>
            <a:r>
              <a:rPr lang="en-US" sz="1050" b="0" dirty="0">
                <a:solidFill>
                  <a:srgbClr val="6C6559"/>
                </a:solidFill>
                <a:latin typeface="Segoe UI"/>
              </a:rPr>
              <a:t>combustion </a:t>
            </a:r>
            <a:r>
              <a:rPr sz="1050" b="0" dirty="0">
                <a:solidFill>
                  <a:srgbClr val="6C6559"/>
                </a:solidFill>
                <a:latin typeface="Segoe UI"/>
              </a:rPr>
              <a:t>analytics comparator, all tested (171 </a:t>
            </a:r>
            <a:r>
              <a:rPr sz="1050" b="0">
                <a:solidFill>
                  <a:srgbClr val="6C6559"/>
                </a:solidFill>
                <a:latin typeface="Segoe UI"/>
              </a:rPr>
              <a:t>green)</a:t>
            </a:r>
            <a:r>
              <a:rPr lang="en-US" sz="1050" b="0">
                <a:solidFill>
                  <a:srgbClr val="6C6559"/>
                </a:solidFill>
                <a:latin typeface="Segoe UI"/>
              </a:rPr>
              <a:t>.</a:t>
            </a:r>
            <a:endParaRPr sz="1050" b="0" dirty="0">
              <a:solidFill>
                <a:srgbClr val="6C6559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" y="638251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F551F"/>
                </a:solidFill>
                <a:latin typeface="Consolas"/>
              </a:rPr>
              <a:t>◆ </a:t>
            </a:r>
            <a:r>
              <a:rPr sz="900" b="1">
                <a:solidFill>
                  <a:srgbClr val="18211F"/>
                </a:solidFill>
                <a:latin typeface="Consolas"/>
              </a:rPr>
              <a:t>Noble Thermodynamics — Argon Power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638251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8B7C"/>
                </a:solidFill>
                <a:latin typeface="Consolas"/>
              </a:rPr>
              <a:t>Python ⇄ LabVIEW supervisory migration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418320" y="4572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">
                <a:solidFill>
                  <a:srgbClr val="938B7C"/>
                </a:solidFill>
                <a:latin typeface="Consolas"/>
              </a:rPr>
              <a:t>02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">
                <a:solidFill>
                  <a:srgbClr val="938B7C"/>
                </a:solidFill>
                <a:latin typeface="Consolas"/>
              </a:rPr>
              <a:t>NEXT   /   PATH TO FIRST FIRE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211F"/>
                </a:solidFill>
                <a:latin typeface="Segoe UI"/>
              </a:rPr>
              <a:t>From validated bench to a motored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10">
                <a:solidFill>
                  <a:srgbClr val="938B7C"/>
                </a:solidFill>
                <a:latin typeface="Consolas"/>
              </a:rPr>
              <a:t>STEP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CF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9144" rIns="73152" bIns="914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F551F"/>
                </a:solidFill>
                <a:latin typeface="Consolas"/>
              </a:rPr>
              <a:t>● TOOL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0048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211F"/>
                </a:solidFill>
                <a:latin typeface="Segoe UI"/>
              </a:rPr>
              <a:t>Set motoring safety thresholds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C6559"/>
                </a:solidFill>
                <a:latin typeface="Segoe UI"/>
              </a:rPr>
              <a:t>Run a motored trace set through the harness to set the cylinder-pressure limits, so the spark/DI gate won't false-trip on the first crank.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73736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8" y="1938528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10">
                <a:solidFill>
                  <a:srgbClr val="938B7C"/>
                </a:solidFill>
                <a:latin typeface="Consolas"/>
              </a:rPr>
              <a:t>STEP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36008" y="2286000"/>
            <a:ext cx="915314" cy="256032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CF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9144" rIns="73152" bIns="914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F551F"/>
                </a:solidFill>
                <a:latin typeface="Consolas"/>
              </a:rPr>
              <a:t>● TURNKEY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670048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211F"/>
                </a:solidFill>
                <a:latin typeface="Segoe UI"/>
              </a:rPr>
              <a:t>SIL-1 — virtual crankshaft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C6559"/>
                </a:solidFill>
                <a:latin typeface="Segoe UI"/>
              </a:rPr>
              <a:t>Enable the 9049's built-in engine simulator; exercise the full sync → spark/DI → acquisition → analytics chain on hardware, no engine.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73736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5" y="1938528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10">
                <a:solidFill>
                  <a:srgbClr val="938B7C"/>
                </a:solidFill>
                <a:latin typeface="Consolas"/>
              </a:rPr>
              <a:t>STEP 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5" y="2286000"/>
            <a:ext cx="687628" cy="256032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B58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9144" rIns="73152" bIns="914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5842B"/>
                </a:solidFill>
                <a:latin typeface="Consolas"/>
              </a:rPr>
              <a:t>● THEN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2670048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211F"/>
                </a:solidFill>
                <a:latin typeface="Segoe UI"/>
              </a:rPr>
              <a:t>Motored bench run → first fire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C6559"/>
                </a:solidFill>
                <a:latin typeface="Segoe UI"/>
              </a:rPr>
              <a:t>Cold-flow and motoring on the real engine, sensor calibration, then staged light-off — each step gated by its own bench drill.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251960"/>
            <a:ext cx="10881360" cy="169164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D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4251960"/>
            <a:ext cx="41148" cy="169164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43484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5842B"/>
                </a:solidFill>
                <a:latin typeface="Segoe UI"/>
              </a:rPr>
              <a:t>● NEEDS FROM THE TEAM </a:t>
            </a:r>
            <a:r>
              <a:rPr sz="1200" b="1">
                <a:solidFill>
                  <a:srgbClr val="18211F"/>
                </a:solidFill>
                <a:latin typeface="Segoe UI"/>
              </a:rPr>
              <a:t>  to keep the path clear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C6559"/>
                </a:solidFill>
                <a:latin typeface="Segoe UI"/>
              </a:rPr>
              <a:t>•  </a:t>
            </a:r>
            <a:r>
              <a:rPr sz="1000" b="1">
                <a:solidFill>
                  <a:srgbClr val="18211F"/>
                </a:solidFill>
                <a:latin typeface="Segoe UI"/>
              </a:rPr>
              <a:t>Operating-procedure sheets</a:t>
            </a:r>
            <a:r>
              <a:rPr sz="1000" b="0">
                <a:solidFill>
                  <a:srgbClr val="6C6559"/>
                </a:solidFill>
                <a:latin typeface="Segoe UI"/>
              </a:rPr>
              <a:t> — cold-start / purge / light-off / abort (the sequencing spec).      •  </a:t>
            </a:r>
            <a:r>
              <a:rPr sz="1000" b="1">
                <a:solidFill>
                  <a:srgbClr val="18211F"/>
                </a:solidFill>
                <a:latin typeface="Segoe UI"/>
              </a:rPr>
              <a:t>Real sensor calibrations</a:t>
            </a:r>
            <a:r>
              <a:rPr sz="1000" b="0">
                <a:solidFill>
                  <a:srgbClr val="6C6559"/>
                </a:solidFill>
                <a:latin typeface="Segoe UI"/>
              </a:rPr>
              <a:t> for the 9049 cylinder-pressure channels.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C6559"/>
                </a:solidFill>
                <a:latin typeface="Segoe UI"/>
              </a:rPr>
              <a:t>•  </a:t>
            </a:r>
            <a:r>
              <a:rPr sz="1000" b="1">
                <a:solidFill>
                  <a:srgbClr val="18211F"/>
                </a:solidFill>
                <a:latin typeface="Segoe UI"/>
              </a:rPr>
              <a:t>Engine physical pressure limit</a:t>
            </a:r>
            <a:r>
              <a:rPr sz="1000" b="0">
                <a:solidFill>
                  <a:srgbClr val="6C6559"/>
                </a:solidFill>
                <a:latin typeface="Segoe UI"/>
              </a:rPr>
              <a:t> for the hard over-pressure trip.      •  </a:t>
            </a:r>
            <a:r>
              <a:rPr sz="1000" b="1">
                <a:solidFill>
                  <a:srgbClr val="18211F"/>
                </a:solidFill>
                <a:latin typeface="Segoe UI"/>
              </a:rPr>
              <a:t>Bench + second operator</a:t>
            </a:r>
            <a:r>
              <a:rPr sz="1000" b="0">
                <a:solidFill>
                  <a:srgbClr val="6C6559"/>
                </a:solidFill>
                <a:latin typeface="Segoe UI"/>
              </a:rPr>
              <a:t> for the command-authority handover rehearsal.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F551F"/>
                </a:solidFill>
                <a:latin typeface="Consolas"/>
              </a:rPr>
              <a:t>◆ </a:t>
            </a:r>
            <a:r>
              <a:rPr sz="900" b="1">
                <a:solidFill>
                  <a:srgbClr val="18211F"/>
                </a:solidFill>
                <a:latin typeface="Consolas"/>
              </a:rPr>
              <a:t>Noble Thermodynamics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638251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8B7C"/>
                </a:solidFill>
                <a:latin typeface="Consolas"/>
              </a:rPr>
              <a:t>Prepared 11 Jul 2026 · questions → controls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387</Words>
  <Application>Microsoft Office PowerPoint</Application>
  <PresentationFormat>Widescreen</PresentationFormat>
  <Paragraphs>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Guillaume Beardsell</cp:lastModifiedBy>
  <cp:revision>18</cp:revision>
  <dcterms:created xsi:type="dcterms:W3CDTF">2013-01-27T09:14:16Z</dcterms:created>
  <dcterms:modified xsi:type="dcterms:W3CDTF">2026-07-13T18:39:22Z</dcterms:modified>
  <cp:category/>
</cp:coreProperties>
</file>