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5847" cy="64008"/>
          </a:xfrm>
          <a:prstGeom prst="rect">
            <a:avLst/>
          </a:prstGeom>
          <a:solidFill>
            <a:srgbClr val="5B46C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5847" y="0"/>
            <a:ext cx="6095847" cy="64008"/>
          </a:xfrm>
          <a:prstGeom prst="rect">
            <a:avLst/>
          </a:prstGeom>
          <a:solidFill>
            <a:srgbClr val="0E76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8229600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spc="140">
                <a:solidFill>
                  <a:srgbClr val="0E767E"/>
                </a:solidFill>
                <a:latin typeface="Consolas"/>
              </a:rPr>
              <a:t>MONARCH · CONTROLS → PYTHON MIGRATION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12064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>
                <a:solidFill>
                  <a:srgbClr val="16222D"/>
                </a:solidFill>
                <a:latin typeface="Segoe UI"/>
              </a:rPr>
              <a:t>The new Python layer is talking to LabVIEW — live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89888"/>
            <a:ext cx="81381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350" b="0">
                <a:solidFill>
                  <a:srgbClr val="5C6B78"/>
                </a:solidFill>
                <a:latin typeface="Segoe UI"/>
              </a:rPr>
              <a:t>First end-to-end connection test </a:t>
            </a:r>
            <a:r>
              <a:rPr sz="1350" b="1">
                <a:solidFill>
                  <a:srgbClr val="16222D"/>
                </a:solidFill>
                <a:latin typeface="Segoe UI"/>
              </a:rPr>
              <a:t>passed</a:t>
            </a:r>
            <a:r>
              <a:rPr sz="1350" b="0">
                <a:solidFill>
                  <a:srgbClr val="5C6B78"/>
                </a:solidFill>
                <a:latin typeface="Segoe UI"/>
              </a:rPr>
              <a:t>: the two systems exchanged data both ways, once a second, running side by side on the control-room PC — with no change to the safety-critical LabVIEW control.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121408"/>
            <a:ext cx="534924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spc="110">
                <a:solidFill>
                  <a:srgbClr val="5C6B78"/>
                </a:solidFill>
                <a:latin typeface="Consolas"/>
              </a:rPr>
              <a:t>THE TEST, IN PLAIN TERMS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02920" y="2414016"/>
            <a:ext cx="5349239" cy="0"/>
          </a:xfrm>
          <a:prstGeom prst="bentConnector3">
            <a:avLst/>
          </a:prstGeom>
          <a:ln w="12700">
            <a:solidFill>
              <a:srgbClr val="E2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02920" y="2560320"/>
            <a:ext cx="5349240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300" b="1">
                <a:solidFill>
                  <a:srgbClr val="0E767E"/>
                </a:solidFill>
                <a:latin typeface="Segoe UI"/>
              </a:rPr>
              <a:t>▪  </a:t>
            </a:r>
            <a:r>
              <a:rPr sz="1300" b="0">
                <a:solidFill>
                  <a:srgbClr val="16222D"/>
                </a:solidFill>
                <a:latin typeface="Segoe UI"/>
              </a:rPr>
              <a:t>Built a minimal </a:t>
            </a:r>
            <a:r>
              <a:rPr sz="1300" b="1">
                <a:solidFill>
                  <a:srgbClr val="16222D"/>
                </a:solidFill>
                <a:latin typeface="Segoe UI"/>
              </a:rPr>
              <a:t>“hello” link</a:t>
            </a:r>
            <a:r>
              <a:rPr sz="1300" b="0">
                <a:solidFill>
                  <a:srgbClr val="16222D"/>
                </a:solidFill>
                <a:latin typeface="Segoe UI"/>
              </a:rPr>
              <a:t> between the new Python program and the existing LabVIEW system.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300" b="1">
                <a:solidFill>
                  <a:srgbClr val="0E767E"/>
                </a:solidFill>
                <a:latin typeface="Segoe UI"/>
              </a:rPr>
              <a:t>▪  </a:t>
            </a:r>
            <a:r>
              <a:rPr sz="1300" b="0">
                <a:solidFill>
                  <a:srgbClr val="16222D"/>
                </a:solidFill>
                <a:latin typeface="Segoe UI"/>
              </a:rPr>
              <a:t>LabVIEW streams a live value to Python </a:t>
            </a:r>
            <a:r>
              <a:rPr sz="1300" b="1">
                <a:solidFill>
                  <a:srgbClr val="16222D"/>
                </a:solidFill>
                <a:latin typeface="Segoe UI"/>
              </a:rPr>
              <a:t>once per second</a:t>
            </a:r>
            <a:r>
              <a:rPr sz="1300" b="0">
                <a:solidFill>
                  <a:srgbClr val="16222D"/>
                </a:solidFill>
                <a:latin typeface="Segoe UI"/>
              </a:rPr>
              <a:t>; Python sends commands back and LabVIEW </a:t>
            </a:r>
            <a:r>
              <a:rPr sz="1300" b="1">
                <a:solidFill>
                  <a:srgbClr val="16222D"/>
                </a:solidFill>
                <a:latin typeface="Segoe UI"/>
              </a:rPr>
              <a:t>acknowledges every one</a:t>
            </a:r>
            <a:r>
              <a:rPr sz="1300" b="0">
                <a:solidFill>
                  <a:srgbClr val="16222D"/>
                </a:solidFill>
                <a:latin typeface="Segoe UI"/>
              </a:rPr>
              <a:t>.</a:t>
            </a:r>
          </a:p>
          <a:p>
            <a:pPr algn="l">
              <a:lnSpc>
                <a:spcPct val="106000"/>
              </a:lnSpc>
              <a:spcAft>
                <a:spcPts val="900"/>
              </a:spcAft>
            </a:pPr>
            <a:r>
              <a:rPr sz="1300" b="1">
                <a:solidFill>
                  <a:srgbClr val="0E767E"/>
                </a:solidFill>
                <a:latin typeface="Segoe UI"/>
              </a:rPr>
              <a:t>▪  </a:t>
            </a:r>
            <a:r>
              <a:rPr sz="1300" b="0">
                <a:solidFill>
                  <a:srgbClr val="16222D"/>
                </a:solidFill>
                <a:latin typeface="Segoe UI"/>
              </a:rPr>
              <a:t>Both ran on the same PC at once — and </a:t>
            </a:r>
            <a:r>
              <a:rPr sz="1300" b="1">
                <a:solidFill>
                  <a:srgbClr val="16222D"/>
                </a:solidFill>
                <a:latin typeface="Segoe UI"/>
              </a:rPr>
              <a:t>either side can restart</a:t>
            </a:r>
            <a:r>
              <a:rPr sz="1300" b="0">
                <a:solidFill>
                  <a:srgbClr val="16222D"/>
                </a:solidFill>
                <a:latin typeface="Segoe UI"/>
              </a:rPr>
              <a:t> and the link re-establishes itself.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187952"/>
            <a:ext cx="5349240" cy="2194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 spc="90">
                <a:solidFill>
                  <a:srgbClr val="5C6B78"/>
                </a:solidFill>
                <a:latin typeface="Consolas"/>
              </a:rPr>
              <a:t>ONE CONTROL-ROOM PC · BOTH RUNNING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4462272"/>
            <a:ext cx="1828800" cy="932688"/>
          </a:xfrm>
          <a:prstGeom prst="roundRect">
            <a:avLst>
              <a:gd name="adj" fmla="val 9000"/>
            </a:avLst>
          </a:prstGeom>
          <a:solidFill>
            <a:srgbClr val="EDEAFA"/>
          </a:solidFill>
          <a:ln w="12700">
            <a:solidFill>
              <a:srgbClr val="D6CEF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5B46C9"/>
                </a:solidFill>
                <a:latin typeface="Consolas"/>
              </a:rPr>
              <a:t>NEW</a:t>
            </a:r>
          </a:p>
          <a:p>
            <a:pPr algn="ctr">
              <a:spcAft>
                <a:spcPts val="0"/>
              </a:spcAft>
            </a:pPr>
            <a:r>
              <a:rPr sz="1500" b="1">
                <a:solidFill>
                  <a:srgbClr val="5B46C9"/>
                </a:solidFill>
                <a:latin typeface="Segoe UI"/>
              </a:rPr>
              <a:t>Python</a:t>
            </a:r>
          </a:p>
          <a:p>
            <a:pPr algn="ctr">
              <a:spcAft>
                <a:spcPts val="0"/>
              </a:spcAft>
            </a:pPr>
            <a:r>
              <a:rPr sz="950" b="0">
                <a:solidFill>
                  <a:srgbClr val="5B46C9"/>
                </a:solidFill>
                <a:latin typeface="Segoe UI"/>
              </a:rPr>
              <a:t>supervisory layer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23360" y="4462272"/>
            <a:ext cx="1828800" cy="932688"/>
          </a:xfrm>
          <a:prstGeom prst="roundRect">
            <a:avLst>
              <a:gd name="adj" fmla="val 9000"/>
            </a:avLst>
          </a:prstGeom>
          <a:solidFill>
            <a:srgbClr val="E0F0F0"/>
          </a:solidFill>
          <a:ln w="12700">
            <a:solidFill>
              <a:srgbClr val="C4E2E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0"/>
              </a:spcAft>
            </a:pPr>
            <a:r>
              <a:rPr sz="900" b="0">
                <a:solidFill>
                  <a:srgbClr val="0E767E"/>
                </a:solidFill>
                <a:latin typeface="Consolas"/>
              </a:rPr>
              <a:t>EXISTING</a:t>
            </a:r>
          </a:p>
          <a:p>
            <a:pPr algn="ctr">
              <a:spcAft>
                <a:spcPts val="0"/>
              </a:spcAft>
            </a:pPr>
            <a:r>
              <a:rPr sz="1500" b="1">
                <a:solidFill>
                  <a:srgbClr val="0E767E"/>
                </a:solidFill>
                <a:latin typeface="Segoe UI"/>
              </a:rPr>
              <a:t>LabVIEW</a:t>
            </a:r>
          </a:p>
          <a:p>
            <a:pPr algn="ctr">
              <a:spcAft>
                <a:spcPts val="0"/>
              </a:spcAft>
            </a:pPr>
            <a:r>
              <a:rPr sz="950" b="0">
                <a:solidFill>
                  <a:srgbClr val="0E767E"/>
                </a:solidFill>
                <a:latin typeface="Segoe UI"/>
              </a:rPr>
              <a:t>engine control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39" y="4480560"/>
            <a:ext cx="16002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950" b="1">
                <a:solidFill>
                  <a:srgbClr val="0E767E"/>
                </a:solidFill>
                <a:latin typeface="Consolas"/>
              </a:rPr>
              <a:t>live data →</a:t>
            </a:r>
          </a:p>
          <a:p>
            <a:pPr algn="ctr">
              <a:lnSpc>
                <a:spcPct val="135000"/>
              </a:lnSpc>
            </a:pPr>
            <a:r>
              <a:rPr sz="950" b="1">
                <a:solidFill>
                  <a:srgbClr val="5B46C9"/>
                </a:solidFill>
                <a:latin typeface="Consolas"/>
              </a:rPr>
              <a:t>← commands</a:t>
            </a:r>
          </a:p>
          <a:p>
            <a:pPr algn="ctr">
              <a:lnSpc>
                <a:spcPct val="135000"/>
              </a:lnSpc>
            </a:pPr>
            <a:r>
              <a:rPr sz="950" b="0">
                <a:solidFill>
                  <a:srgbClr val="5C6B78"/>
                </a:solidFill>
                <a:latin typeface="Consolas"/>
              </a:rPr>
              <a:t>♥ heartbeat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63640" y="2121408"/>
            <a:ext cx="5422392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0" spc="110">
                <a:solidFill>
                  <a:srgbClr val="5C6B78"/>
                </a:solidFill>
                <a:latin typeface="Consolas"/>
              </a:rPr>
              <a:t>PROOF IT WORKED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263640" y="2414016"/>
            <a:ext cx="5422392" cy="0"/>
          </a:xfrm>
          <a:prstGeom prst="bentConnector3">
            <a:avLst/>
          </a:prstGeom>
          <a:ln w="12700">
            <a:solidFill>
              <a:srgbClr val="E2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263640" y="2542032"/>
            <a:ext cx="4343400" cy="402336"/>
          </a:xfrm>
          <a:prstGeom prst="roundRect">
            <a:avLst>
              <a:gd name="adj" fmla="val 50000"/>
            </a:avLst>
          </a:prstGeom>
          <a:solidFill>
            <a:srgbClr val="E3F4EB"/>
          </a:solidFill>
          <a:ln w="12700">
            <a:solidFill>
              <a:srgbClr val="BFE6C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1C914F"/>
                </a:solidFill>
                <a:latin typeface="Segoe UI"/>
              </a:rPr>
              <a:t>✔  PASS — two-way communication confirmed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263640" y="3017520"/>
            <a:ext cx="4041648" cy="2332168"/>
          </a:xfrm>
          <a:prstGeom prst="rect">
            <a:avLst/>
          </a:prstGeom>
          <a:solidFill>
            <a:srgbClr val="0C0C0C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CMD-Outp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3017520"/>
            <a:ext cx="4041648" cy="233216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263640" y="5395408"/>
            <a:ext cx="542239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5C6B78"/>
                </a:solidFill>
                <a:latin typeface="Consolas"/>
              </a:rPr>
              <a:t>Python console: live values every second → RESULT: PASS</a:t>
            </a:r>
          </a:p>
        </p:txBody>
      </p:sp>
      <p:pic>
        <p:nvPicPr>
          <p:cNvPr id="20" name="Picture 19" descr="Hello-VI_Front-Pan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33304" y="3017520"/>
            <a:ext cx="1188720" cy="36021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10433304" y="3423458"/>
            <a:ext cx="1188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850" b="0">
                <a:solidFill>
                  <a:srgbClr val="5C6B78"/>
                </a:solidFill>
                <a:latin typeface="Consolas"/>
              </a:rPr>
              <a:t>LabVIEW side: Client Connected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502920" y="5705856"/>
            <a:ext cx="11185855" cy="0"/>
          </a:xfrm>
          <a:prstGeom prst="bentConnector3">
            <a:avLst/>
          </a:prstGeom>
          <a:ln w="12700">
            <a:solidFill>
              <a:srgbClr val="E2E7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02920" y="5760720"/>
            <a:ext cx="2286000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spc="110">
                <a:solidFill>
                  <a:srgbClr val="5C6B78"/>
                </a:solidFill>
                <a:latin typeface="Consolas"/>
              </a:rPr>
              <a:t>UNDER THE HOOD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5989320"/>
            <a:ext cx="1828800" cy="719999"/>
          </a:xfrm>
          <a:prstGeom prst="rect">
            <a:avLst/>
          </a:prstGeom>
          <a:solidFill>
            <a:srgbClr val="FFFFFF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Picture 24" descr="Hello-VI_Block-Diagra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" y="6035040"/>
            <a:ext cx="1737360" cy="62856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2478024" y="6144768"/>
            <a:ext cx="1051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900" b="0">
                <a:solidFill>
                  <a:srgbClr val="5C6B78"/>
                </a:solidFill>
                <a:latin typeface="Consolas"/>
              </a:rPr>
              <a:t>the LabVIEW
test program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60520" y="5779007"/>
            <a:ext cx="1373428" cy="310896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1C914F"/>
                </a:solidFill>
                <a:latin typeface="Consolas"/>
              </a:rPr>
              <a:t>✓ </a:t>
            </a:r>
            <a:r>
              <a:rPr sz="1100">
                <a:solidFill>
                  <a:srgbClr val="16222D"/>
                </a:solidFill>
                <a:latin typeface="Consolas"/>
              </a:rPr>
              <a:t>Two-way link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1964" y="5779007"/>
            <a:ext cx="1458468" cy="310896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1C914F"/>
                </a:solidFill>
                <a:latin typeface="Consolas"/>
              </a:rPr>
              <a:t>✓ </a:t>
            </a:r>
            <a:r>
              <a:rPr sz="1100">
                <a:solidFill>
                  <a:srgbClr val="16222D"/>
                </a:solidFill>
                <a:latin typeface="Consolas"/>
              </a:rPr>
              <a:t>~1 Hz updates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248448" y="5779007"/>
            <a:ext cx="1543507" cy="310896"/>
          </a:xfrm>
          <a:prstGeom prst="roundRect">
            <a:avLst>
              <a:gd name="adj" fmla="val 30000"/>
            </a:avLst>
          </a:prstGeom>
          <a:solidFill>
            <a:srgbClr val="FFFFFF"/>
          </a:solidFill>
          <a:ln w="9525">
            <a:solidFill>
              <a:srgbClr val="E2E7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>
                <a:solidFill>
                  <a:srgbClr val="1C914F"/>
                </a:solidFill>
                <a:latin typeface="Consolas"/>
              </a:rPr>
              <a:t>✓ </a:t>
            </a:r>
            <a:r>
              <a:rPr sz="1100">
                <a:solidFill>
                  <a:srgbClr val="16222D"/>
                </a:solidFill>
                <a:latin typeface="Consolas"/>
              </a:rPr>
              <a:t>Auto-reconnect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0" y="5788152"/>
            <a:ext cx="1170432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C6B78"/>
                </a:solidFill>
                <a:latin typeface="Consolas"/>
              </a:rPr>
              <a:t>2026-07-02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60520" y="6236208"/>
            <a:ext cx="73609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</a:pPr>
            <a:r>
              <a:rPr sz="1100" b="1">
                <a:solidFill>
                  <a:srgbClr val="16222D"/>
                </a:solidFill>
                <a:latin typeface="Segoe UI"/>
              </a:rPr>
              <a:t>Why it matters:  </a:t>
            </a:r>
            <a:r>
              <a:rPr sz="1100" b="0">
                <a:solidFill>
                  <a:srgbClr val="5C6B78"/>
                </a:solidFill>
                <a:latin typeface="Segoe UI"/>
              </a:rPr>
              <a:t>connecting the two systems was the biggest unknown — now proven.</a:t>
            </a:r>
          </a:p>
          <a:p>
            <a:pPr algn="l">
              <a:lnSpc>
                <a:spcPct val="118000"/>
              </a:lnSpc>
            </a:pPr>
            <a:r>
              <a:rPr sz="1100" b="1">
                <a:solidFill>
                  <a:srgbClr val="16222D"/>
                </a:solidFill>
                <a:latin typeface="Segoe UI"/>
              </a:rPr>
              <a:t>Next:  </a:t>
            </a:r>
            <a:r>
              <a:rPr sz="1100" b="0">
                <a:solidFill>
                  <a:srgbClr val="5C6B78"/>
                </a:solidFill>
                <a:latin typeface="Segoe UI"/>
              </a:rPr>
              <a:t>move the first supervisory state machine into Python.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