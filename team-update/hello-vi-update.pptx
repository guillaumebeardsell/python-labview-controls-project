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3846" y="6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095847" cy="64008"/>
          </a:xfrm>
          <a:prstGeom prst="rect">
            <a:avLst/>
          </a:prstGeom>
          <a:solidFill>
            <a:srgbClr val="5B4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64008"/>
          </a:xfrm>
          <a:prstGeom prst="rect">
            <a:avLst/>
          </a:prstGeom>
          <a:solidFill>
            <a:srgbClr val="0E7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140" dirty="0">
                <a:solidFill>
                  <a:srgbClr val="0E767E"/>
                </a:solidFill>
                <a:latin typeface="Consolas"/>
              </a:rPr>
              <a:t>CONTROLS → PYTHON </a:t>
            </a:r>
            <a:r>
              <a:rPr lang="en-US" sz="1050" b="0" spc="140" dirty="0">
                <a:solidFill>
                  <a:srgbClr val="0E767E"/>
                </a:solidFill>
                <a:latin typeface="Consolas"/>
              </a:rPr>
              <a:t>/ LABVIEW INTEGRATION</a:t>
            </a:r>
            <a:endParaRPr sz="1050" b="0" spc="140" dirty="0">
              <a:solidFill>
                <a:srgbClr val="0E767E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512064"/>
            <a:ext cx="1115568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dirty="0">
                <a:solidFill>
                  <a:srgbClr val="16222D"/>
                </a:solidFill>
                <a:latin typeface="Segoe UI"/>
              </a:rPr>
              <a:t>The new Python layer is talking to LabVIE</a:t>
            </a:r>
            <a:r>
              <a:rPr lang="en-US" sz="2900" b="1" dirty="0">
                <a:solidFill>
                  <a:srgbClr val="16222D"/>
                </a:solidFill>
                <a:latin typeface="Segoe UI"/>
              </a:rPr>
              <a:t>W</a:t>
            </a:r>
            <a:endParaRPr sz="2900" b="1" dirty="0">
              <a:solidFill>
                <a:srgbClr val="16222D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8138160" cy="446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dirty="0">
                <a:solidFill>
                  <a:srgbClr val="5C6B78"/>
                </a:solidFill>
                <a:latin typeface="Segoe UI"/>
              </a:rPr>
              <a:t>First end-to-end </a:t>
            </a:r>
            <a:r>
              <a:rPr lang="en-US" sz="1350" b="0" dirty="0">
                <a:solidFill>
                  <a:srgbClr val="5C6B78"/>
                </a:solidFill>
                <a:latin typeface="Segoe UI"/>
              </a:rPr>
              <a:t>“Hello </a:t>
            </a:r>
            <a:r>
              <a:rPr lang="en-US" sz="1350" dirty="0">
                <a:solidFill>
                  <a:srgbClr val="5C6B78"/>
                </a:solidFill>
                <a:latin typeface="Segoe UI"/>
              </a:rPr>
              <a:t>VI” </a:t>
            </a:r>
            <a:r>
              <a:rPr sz="1350" b="0" dirty="0">
                <a:solidFill>
                  <a:srgbClr val="5C6B78"/>
                </a:solidFill>
                <a:latin typeface="Segoe UI"/>
              </a:rPr>
              <a:t>connection test </a:t>
            </a:r>
            <a:r>
              <a:rPr sz="1350" b="1" dirty="0">
                <a:solidFill>
                  <a:srgbClr val="16222D"/>
                </a:solidFill>
                <a:latin typeface="Segoe UI"/>
              </a:rPr>
              <a:t>passed</a:t>
            </a:r>
            <a:r>
              <a:rPr sz="1350" b="0" dirty="0">
                <a:solidFill>
                  <a:srgbClr val="5C6B78"/>
                </a:solidFill>
                <a:latin typeface="Segoe UI"/>
              </a:rPr>
              <a:t>: the two systems exchanged data both ways, once a second, running side by side on the control-room PC</a:t>
            </a:r>
            <a:r>
              <a:rPr lang="en-US" sz="1350" dirty="0">
                <a:solidFill>
                  <a:srgbClr val="5C6B78"/>
                </a:solidFill>
                <a:latin typeface="Segoe UI"/>
              </a:rPr>
              <a:t>.</a:t>
            </a:r>
            <a:endParaRPr sz="1350" b="0" dirty="0">
              <a:solidFill>
                <a:srgbClr val="5C6B78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2121408"/>
            <a:ext cx="5349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110">
                <a:solidFill>
                  <a:srgbClr val="5C6B78"/>
                </a:solidFill>
                <a:latin typeface="Consolas"/>
              </a:rPr>
              <a:t>THE TEST, IN PLAIN TERMS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2414016"/>
            <a:ext cx="5349239" cy="0"/>
          </a:xfrm>
          <a:prstGeom prst="bentConnector3">
            <a:avLst/>
          </a:prstGeom>
          <a:ln w="12700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2560320"/>
            <a:ext cx="5349240" cy="1487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dirty="0">
                <a:solidFill>
                  <a:srgbClr val="0E767E"/>
                </a:solidFill>
                <a:latin typeface="Segoe UI"/>
              </a:rPr>
              <a:t>▪  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Built a minimal </a:t>
            </a:r>
            <a:r>
              <a:rPr sz="1300" b="1" dirty="0">
                <a:solidFill>
                  <a:srgbClr val="16222D"/>
                </a:solidFill>
                <a:latin typeface="Segoe UI"/>
              </a:rPr>
              <a:t>“hello” link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 between the new Python program and the existing LabVIEW system.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dirty="0">
                <a:solidFill>
                  <a:srgbClr val="0E767E"/>
                </a:solidFill>
                <a:latin typeface="Segoe UI"/>
              </a:rPr>
              <a:t>▪  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LabVIEW streams a live value to Python </a:t>
            </a:r>
            <a:r>
              <a:rPr sz="1300" b="1" dirty="0">
                <a:solidFill>
                  <a:srgbClr val="16222D"/>
                </a:solidFill>
                <a:latin typeface="Segoe UI"/>
              </a:rPr>
              <a:t>once per second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; Python sends commands back and LabVIEW </a:t>
            </a:r>
            <a:r>
              <a:rPr sz="1300" b="1" dirty="0">
                <a:solidFill>
                  <a:srgbClr val="16222D"/>
                </a:solidFill>
                <a:latin typeface="Segoe UI"/>
              </a:rPr>
              <a:t>acknowledges every one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dirty="0">
                <a:solidFill>
                  <a:srgbClr val="0E767E"/>
                </a:solidFill>
                <a:latin typeface="Segoe UI"/>
              </a:rPr>
              <a:t>▪  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Both ran on the same PC</a:t>
            </a:r>
            <a:r>
              <a:rPr lang="en-US" sz="1300" b="0" dirty="0">
                <a:solidFill>
                  <a:srgbClr val="16222D"/>
                </a:solidFill>
                <a:latin typeface="Segoe UI"/>
              </a:rPr>
              <a:t>: 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and </a:t>
            </a:r>
            <a:r>
              <a:rPr sz="1300" b="1" dirty="0">
                <a:solidFill>
                  <a:srgbClr val="16222D"/>
                </a:solidFill>
                <a:latin typeface="Segoe UI"/>
              </a:rPr>
              <a:t>either side can restart</a:t>
            </a:r>
            <a:r>
              <a:rPr sz="1300" b="0" dirty="0">
                <a:solidFill>
                  <a:srgbClr val="16222D"/>
                </a:solidFill>
                <a:latin typeface="Segoe UI"/>
              </a:rPr>
              <a:t> and the link re-establishes itself.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19" y="4194531"/>
            <a:ext cx="1828800" cy="932688"/>
          </a:xfrm>
          <a:prstGeom prst="roundRect">
            <a:avLst>
              <a:gd name="adj" fmla="val 9000"/>
            </a:avLst>
          </a:prstGeom>
          <a:solidFill>
            <a:srgbClr val="EDEAFA"/>
          </a:solidFill>
          <a:ln w="12700">
            <a:solidFill>
              <a:srgbClr val="D6C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endParaRPr sz="900" b="0" dirty="0">
              <a:solidFill>
                <a:srgbClr val="5B46C9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sz="1500" b="1" dirty="0">
                <a:solidFill>
                  <a:srgbClr val="5B46C9"/>
                </a:solidFill>
                <a:latin typeface="Segoe UI"/>
              </a:rPr>
              <a:t>Python</a:t>
            </a:r>
          </a:p>
          <a:p>
            <a:pPr algn="ctr">
              <a:spcAft>
                <a:spcPts val="0"/>
              </a:spcAft>
            </a:pPr>
            <a:r>
              <a:rPr lang="en-US" sz="950" b="0" dirty="0">
                <a:solidFill>
                  <a:srgbClr val="5B46C9"/>
                </a:solidFill>
                <a:latin typeface="Segoe UI"/>
              </a:rPr>
              <a:t>script</a:t>
            </a:r>
            <a:endParaRPr sz="950" b="0" dirty="0">
              <a:solidFill>
                <a:srgbClr val="5B46C9"/>
              </a:solidFill>
              <a:latin typeface="Segoe U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023359" y="4194531"/>
            <a:ext cx="1828800" cy="932688"/>
          </a:xfrm>
          <a:prstGeom prst="roundRect">
            <a:avLst>
              <a:gd name="adj" fmla="val 9000"/>
            </a:avLst>
          </a:prstGeom>
          <a:solidFill>
            <a:srgbClr val="E0F0F0"/>
          </a:solidFill>
          <a:ln w="12700">
            <a:solidFill>
              <a:srgbClr val="C4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Aft>
                <a:spcPts val="0"/>
              </a:spcAft>
            </a:pPr>
            <a:r>
              <a:rPr lang="en-US" sz="900" b="0" dirty="0">
                <a:solidFill>
                  <a:srgbClr val="0E767E"/>
                </a:solidFill>
                <a:latin typeface="Consolas"/>
              </a:rPr>
              <a:t>Minimal ‘Hello VI’</a:t>
            </a:r>
            <a:endParaRPr sz="900" b="0" dirty="0">
              <a:solidFill>
                <a:srgbClr val="0E767E"/>
              </a:solidFill>
              <a:latin typeface="Consolas"/>
            </a:endParaRPr>
          </a:p>
          <a:p>
            <a:pPr algn="ctr">
              <a:spcAft>
                <a:spcPts val="0"/>
              </a:spcAft>
            </a:pPr>
            <a:r>
              <a:rPr sz="1500" b="1" dirty="0">
                <a:solidFill>
                  <a:srgbClr val="0E767E"/>
                </a:solidFill>
                <a:latin typeface="Segoe UI"/>
              </a:rPr>
              <a:t>LabVIEW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63640" y="2414016"/>
            <a:ext cx="5422392" cy="0"/>
          </a:xfrm>
          <a:prstGeom prst="bentConnector3">
            <a:avLst/>
          </a:prstGeom>
          <a:ln w="12700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63640" y="2542032"/>
            <a:ext cx="4343400" cy="402336"/>
          </a:xfrm>
          <a:prstGeom prst="roundRect">
            <a:avLst>
              <a:gd name="adj" fmla="val 50000"/>
            </a:avLst>
          </a:prstGeom>
          <a:solidFill>
            <a:srgbClr val="E3F4EB"/>
          </a:solidFill>
          <a:ln w="12700">
            <a:solidFill>
              <a:srgbClr val="BFE6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C914F"/>
                </a:solidFill>
                <a:latin typeface="Segoe UI"/>
              </a:rPr>
              <a:t>✔  PASS — two-way communication confirmed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017520"/>
            <a:ext cx="4041648" cy="2332168"/>
          </a:xfrm>
          <a:prstGeom prst="rect">
            <a:avLst/>
          </a:prstGeom>
          <a:solidFill>
            <a:srgbClr val="0C0C0C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MD-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3017520"/>
            <a:ext cx="4041648" cy="23321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395408"/>
            <a:ext cx="5422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C6B78"/>
                </a:solidFill>
                <a:latin typeface="Consolas"/>
              </a:rPr>
              <a:t>Python console: live values every second → RESULT: PASS</a:t>
            </a:r>
          </a:p>
        </p:txBody>
      </p:sp>
      <p:pic>
        <p:nvPicPr>
          <p:cNvPr id="20" name="Picture 19" descr="Hello-VI_Front-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3304" y="3017520"/>
            <a:ext cx="1188720" cy="3602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433304" y="3423458"/>
            <a:ext cx="1188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5C6B78"/>
                </a:solidFill>
                <a:latin typeface="Consolas"/>
              </a:rPr>
              <a:t>LabVIEW side: Client Connected</a:t>
            </a:r>
          </a:p>
        </p:txBody>
      </p:sp>
      <p:cxnSp>
        <p:nvCxnSpPr>
          <p:cNvPr id="22" name="Connector 21"/>
          <p:cNvCxnSpPr>
            <a:cxnSpLocks/>
          </p:cNvCxnSpPr>
          <p:nvPr/>
        </p:nvCxnSpPr>
        <p:spPr>
          <a:xfrm>
            <a:off x="6164580" y="5707724"/>
            <a:ext cx="5524195" cy="10832"/>
          </a:xfrm>
          <a:prstGeom prst="bentConnector3">
            <a:avLst/>
          </a:prstGeom>
          <a:ln w="12700">
            <a:solidFill>
              <a:srgbClr val="E2E7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31280" y="5806439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110" dirty="0">
                <a:solidFill>
                  <a:srgbClr val="5C6B78"/>
                </a:solidFill>
                <a:latin typeface="Consolas"/>
              </a:rPr>
              <a:t>UNDER THE HOOD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31280" y="6035039"/>
            <a:ext cx="1828800" cy="719999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Hello-VI_Block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6080759"/>
            <a:ext cx="1737360" cy="6285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06384" y="6190487"/>
            <a:ext cx="1051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dirty="0">
                <a:solidFill>
                  <a:srgbClr val="5C6B78"/>
                </a:solidFill>
                <a:latin typeface="Consolas"/>
              </a:rPr>
              <a:t>the LabVIEW
test program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90824" y="5649394"/>
            <a:ext cx="1373428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dirty="0">
                <a:solidFill>
                  <a:srgbClr val="1C914F"/>
                </a:solidFill>
                <a:latin typeface="Consolas"/>
              </a:rPr>
              <a:t>✓ </a:t>
            </a:r>
            <a:r>
              <a:rPr sz="1100" dirty="0">
                <a:solidFill>
                  <a:srgbClr val="16222D"/>
                </a:solidFill>
                <a:latin typeface="Consolas"/>
              </a:rPr>
              <a:t>Two-way link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70098" y="5275531"/>
            <a:ext cx="1458468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dirty="0">
                <a:solidFill>
                  <a:srgbClr val="1C914F"/>
                </a:solidFill>
                <a:latin typeface="Consolas"/>
              </a:rPr>
              <a:t>✓ </a:t>
            </a:r>
            <a:r>
              <a:rPr sz="1100" dirty="0">
                <a:solidFill>
                  <a:srgbClr val="16222D"/>
                </a:solidFill>
                <a:latin typeface="Consolas"/>
              </a:rPr>
              <a:t>~1 Hz updates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10204" y="4901668"/>
            <a:ext cx="1543507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1C914F"/>
                </a:solidFill>
                <a:latin typeface="Consolas"/>
              </a:rPr>
              <a:t>✓ </a:t>
            </a:r>
            <a:r>
              <a:rPr sz="1100">
                <a:solidFill>
                  <a:srgbClr val="16222D"/>
                </a:solidFill>
                <a:latin typeface="Consolas"/>
              </a:rPr>
              <a:t>Auto-reconnect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5788152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6B78"/>
                </a:solidFill>
                <a:latin typeface="Consolas"/>
              </a:rPr>
              <a:t>2026-07-02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E58E44-A8E3-EB70-7CC9-4A0F2D6A9695}"/>
              </a:ext>
            </a:extLst>
          </p:cNvPr>
          <p:cNvCxnSpPr/>
          <p:nvPr/>
        </p:nvCxnSpPr>
        <p:spPr>
          <a:xfrm>
            <a:off x="2659378" y="4540479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7FD0F9A-26D9-826B-3755-BBBF1DC50FD0}"/>
              </a:ext>
            </a:extLst>
          </p:cNvPr>
          <p:cNvCxnSpPr>
            <a:cxnSpLocks/>
          </p:cNvCxnSpPr>
          <p:nvPr/>
        </p:nvCxnSpPr>
        <p:spPr>
          <a:xfrm flipH="1">
            <a:off x="2659379" y="4746219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161</Words>
  <Application>Microsoft Office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Segoe UI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Guillaume Beardsell</cp:lastModifiedBy>
  <cp:revision>22</cp:revision>
  <dcterms:created xsi:type="dcterms:W3CDTF">2013-01-27T09:14:16Z</dcterms:created>
  <dcterms:modified xsi:type="dcterms:W3CDTF">2026-07-02T23:58:40Z</dcterms:modified>
  <cp:category/>
</cp:coreProperties>
</file>