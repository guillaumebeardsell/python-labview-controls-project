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26" y="10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687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CF551F"/>
                </a:solidFill>
                <a:latin typeface="Segoe UI"/>
              </a:rPr>
              <a:t>◆ MONARCH · APC</a:t>
            </a:r>
            <a:r>
              <a:rPr sz="1100" b="0">
                <a:solidFill>
                  <a:srgbClr val="6E6558"/>
                </a:solidFill>
                <a:latin typeface="Segoe UI"/>
              </a:rPr>
              <a:t>   /   CONTROLS UPDATE   /   18 JUL 2026                                                                        SINCE 15 JUL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566928"/>
            <a:ext cx="11368735" cy="25400"/>
          </a:xfrm>
          <a:prstGeom prst="rect">
            <a:avLst/>
          </a:prstGeom>
          <a:solidFill>
            <a:srgbClr val="CF5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1368735" cy="12003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2400" b="1" dirty="0">
                <a:solidFill>
                  <a:srgbClr val="26221C"/>
                </a:solidFill>
                <a:latin typeface="Segoe UI"/>
              </a:rPr>
              <a:t>IGN and DI commands reach the cRIO 9049 FPGA </a:t>
            </a:r>
            <a:r>
              <a:rPr sz="2400" b="1" dirty="0">
                <a:solidFill>
                  <a:srgbClr val="26221C"/>
                </a:solidFill>
                <a:latin typeface="Segoe UI"/>
              </a:rPr>
              <a:t>— and killing </a:t>
            </a:r>
            <a:r>
              <a:rPr sz="2400" b="1" dirty="0">
                <a:solidFill>
                  <a:srgbClr val="CF551F"/>
                </a:solidFill>
                <a:latin typeface="Segoe UI"/>
              </a:rPr>
              <a:t>any</a:t>
            </a:r>
            <a:r>
              <a:rPr sz="2400" b="1" dirty="0">
                <a:solidFill>
                  <a:srgbClr val="26221C"/>
                </a:solidFill>
                <a:latin typeface="Segoe UI"/>
              </a:rPr>
              <a:t> computer fails safe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dirty="0">
                <a:solidFill>
                  <a:srgbClr val="6E6558"/>
                </a:solidFill>
                <a:latin typeface="Segoe UI"/>
              </a:rPr>
              <a:t>Last update proved the warning chain trips correctly. T</a:t>
            </a:r>
            <a:r>
              <a:rPr lang="en-US" sz="1250" b="0" dirty="0">
                <a:solidFill>
                  <a:srgbClr val="6E6558"/>
                </a:solidFill>
                <a:latin typeface="Segoe UI"/>
              </a:rPr>
              <a:t>oday</a:t>
            </a:r>
            <a:r>
              <a:rPr sz="1250" b="0" dirty="0">
                <a:solidFill>
                  <a:srgbClr val="6E6558"/>
                </a:solidFill>
                <a:latin typeface="Segoe UI"/>
              </a:rPr>
              <a:t>: </a:t>
            </a:r>
            <a:r>
              <a:rPr lang="en-US" sz="1250" b="0" dirty="0">
                <a:solidFill>
                  <a:srgbClr val="6E6558"/>
                </a:solidFill>
                <a:latin typeface="Segoe UI"/>
              </a:rPr>
              <a:t>1) </a:t>
            </a:r>
            <a:r>
              <a:rPr sz="1250" b="0" dirty="0">
                <a:solidFill>
                  <a:srgbClr val="6E6558"/>
                </a:solidFill>
                <a:latin typeface="Segoe UI"/>
              </a:rPr>
              <a:t>commands from Python physically reach the </a:t>
            </a:r>
            <a:r>
              <a:rPr lang="en-US" sz="1250" dirty="0">
                <a:solidFill>
                  <a:srgbClr val="6E6558"/>
                </a:solidFill>
                <a:latin typeface="Segoe UI"/>
              </a:rPr>
              <a:t>FPGA (closest to ignition and injection hardware)</a:t>
            </a:r>
            <a:r>
              <a:rPr sz="1250" b="0" dirty="0">
                <a:solidFill>
                  <a:srgbClr val="6E6558"/>
                </a:solidFill>
                <a:latin typeface="Segoe UI"/>
              </a:rPr>
              <a:t>, and </a:t>
            </a:r>
            <a:r>
              <a:rPr lang="en-US" sz="1250" b="0" dirty="0">
                <a:solidFill>
                  <a:srgbClr val="6E6558"/>
                </a:solidFill>
                <a:latin typeface="Segoe UI"/>
              </a:rPr>
              <a:t>2) </a:t>
            </a:r>
            <a:r>
              <a:rPr sz="1250" b="0" dirty="0">
                <a:solidFill>
                  <a:srgbClr val="6E6558"/>
                </a:solidFill>
                <a:latin typeface="Segoe UI"/>
              </a:rPr>
              <a:t>deliberately crashing each controller now ends in a </a:t>
            </a:r>
            <a:r>
              <a:rPr lang="en-US" sz="1250" dirty="0">
                <a:solidFill>
                  <a:srgbClr val="6E6558"/>
                </a:solidFill>
                <a:latin typeface="Segoe UI"/>
              </a:rPr>
              <a:t>transition to Safe mode (emergency shutdown).</a:t>
            </a:r>
            <a:endParaRPr sz="1250" b="0" dirty="0">
              <a:solidFill>
                <a:srgbClr val="6E6558"/>
              </a:solidFill>
              <a:latin typeface="Segoe U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79" y="2186865"/>
            <a:ext cx="3637178" cy="3291840"/>
          </a:xfrm>
          <a:prstGeom prst="rect">
            <a:avLst/>
          </a:prstGeom>
          <a:solidFill>
            <a:srgbClr val="FDFBF7"/>
          </a:solidFill>
          <a:ln w="9525">
            <a:solidFill>
              <a:srgbClr val="DC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79" y="2186865"/>
            <a:ext cx="3637178" cy="38100"/>
          </a:xfrm>
          <a:prstGeom prst="rect">
            <a:avLst/>
          </a:prstGeom>
          <a:solidFill>
            <a:srgbClr val="1C7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1" y="2351457"/>
            <a:ext cx="3307994" cy="22724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50" b="1" dirty="0">
                <a:solidFill>
                  <a:srgbClr val="1C7E8C"/>
                </a:solidFill>
                <a:latin typeface="Segoe UI"/>
              </a:rPr>
              <a:t>VERIFIED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dirty="0">
                <a:solidFill>
                  <a:srgbClr val="26221C"/>
                </a:solidFill>
                <a:latin typeface="Segoe UI"/>
              </a:rPr>
              <a:t>12 / 12</a:t>
            </a:r>
            <a:r>
              <a:rPr sz="1500" b="0" dirty="0">
                <a:solidFill>
                  <a:srgbClr val="6E6558"/>
                </a:solidFill>
                <a:latin typeface="Segoe UI"/>
              </a:rPr>
              <a:t>  ignition + injection channels live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dirty="0">
                <a:solidFill>
                  <a:srgbClr val="6E6558"/>
                </a:solidFill>
                <a:latin typeface="Segoe UI"/>
              </a:rPr>
              <a:t>From the Python console and the HMI: </a:t>
            </a:r>
            <a:r>
              <a:rPr lang="en-US" sz="1100" b="0" dirty="0">
                <a:solidFill>
                  <a:srgbClr val="6E6558"/>
                </a:solidFill>
                <a:latin typeface="Segoe UI"/>
              </a:rPr>
              <a:t>states go up </a:t>
            </a:r>
            <a:r>
              <a:rPr sz="1100" b="0" dirty="0">
                <a:solidFill>
                  <a:srgbClr val="6E6558"/>
                </a:solidFill>
                <a:latin typeface="Segoe UI"/>
              </a:rPr>
              <a:t>one level at a time</a:t>
            </a:r>
            <a:r>
              <a:rPr lang="en-US" sz="1100" dirty="0">
                <a:solidFill>
                  <a:srgbClr val="6E6558"/>
                </a:solidFill>
                <a:latin typeface="Segoe UI"/>
              </a:rPr>
              <a:t> (</a:t>
            </a:r>
            <a:r>
              <a:rPr sz="1100" b="0" dirty="0">
                <a:solidFill>
                  <a:srgbClr val="6E6558"/>
                </a:solidFill>
                <a:latin typeface="Segoe UI"/>
              </a:rPr>
              <a:t>by design), spark &amp; injection unlocked </a:t>
            </a:r>
            <a:r>
              <a:rPr sz="1100" b="1" dirty="0">
                <a:solidFill>
                  <a:srgbClr val="26221C"/>
                </a:solidFill>
                <a:latin typeface="Segoe UI"/>
              </a:rPr>
              <a:t>only in idling/firing</a:t>
            </a:r>
            <a:r>
              <a:rPr sz="1100" b="0" dirty="0">
                <a:solidFill>
                  <a:srgbClr val="6E6558"/>
                </a:solidFill>
                <a:latin typeface="Segoe UI"/>
              </a:rPr>
              <a:t>, all 12 FPGA channels </a:t>
            </a:r>
            <a:r>
              <a:rPr lang="en-US" sz="1100" b="0" dirty="0">
                <a:solidFill>
                  <a:srgbClr val="6E6558"/>
                </a:solidFill>
                <a:latin typeface="Segoe UI"/>
              </a:rPr>
              <a:t>active.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100" dirty="0">
                <a:solidFill>
                  <a:srgbClr val="6E6558"/>
                </a:solidFill>
                <a:latin typeface="Segoe UI"/>
              </a:rPr>
              <a:t>P</a:t>
            </a:r>
            <a:r>
              <a:rPr sz="1100" b="0" dirty="0">
                <a:solidFill>
                  <a:srgbClr val="6E6558"/>
                </a:solidFill>
                <a:latin typeface="Segoe UI"/>
              </a:rPr>
              <a:t>anel </a:t>
            </a:r>
            <a:r>
              <a:rPr sz="1100" b="1" dirty="0">
                <a:solidFill>
                  <a:srgbClr val="26221C"/>
                </a:solidFill>
                <a:latin typeface="Segoe UI"/>
              </a:rPr>
              <a:t>E-STOP verified</a:t>
            </a:r>
            <a:r>
              <a:rPr sz="1100" b="0" dirty="0">
                <a:solidFill>
                  <a:srgbClr val="6E6558"/>
                </a:solidFill>
                <a:latin typeface="Segoe UI"/>
              </a:rPr>
              <a:t> to override </a:t>
            </a:r>
            <a:r>
              <a:rPr lang="en-US" sz="1100" b="0" dirty="0">
                <a:solidFill>
                  <a:srgbClr val="6E6558"/>
                </a:solidFill>
                <a:latin typeface="Segoe UI"/>
              </a:rPr>
              <a:t>LabVIEW GUI/</a:t>
            </a:r>
            <a:r>
              <a:rPr sz="1100" b="0" dirty="0">
                <a:solidFill>
                  <a:srgbClr val="6E6558"/>
                </a:solidFill>
                <a:latin typeface="Segoe UI"/>
              </a:rPr>
              <a:t>Python instantly.</a:t>
            </a:r>
            <a:endParaRPr lang="en-US" sz="1100" b="0" dirty="0">
              <a:solidFill>
                <a:srgbClr val="6E6558"/>
              </a:solidFill>
              <a:latin typeface="Segoe UI"/>
            </a:endParaRP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dirty="0">
                <a:solidFill>
                  <a:srgbClr val="6E6558"/>
                </a:solidFill>
                <a:latin typeface="Segoe UI"/>
              </a:rPr>
              <a:t>A self-starting simulator build now boots </a:t>
            </a:r>
            <a:r>
              <a:rPr lang="en-US" sz="1100" dirty="0">
                <a:solidFill>
                  <a:srgbClr val="6E6558"/>
                </a:solidFill>
                <a:latin typeface="Segoe UI"/>
              </a:rPr>
              <a:t>a </a:t>
            </a:r>
            <a:r>
              <a:rPr sz="1100" b="0" dirty="0">
                <a:solidFill>
                  <a:srgbClr val="6E6558"/>
                </a:solidFill>
                <a:latin typeface="Segoe UI"/>
              </a:rPr>
              <a:t>virtual engine </a:t>
            </a:r>
            <a:r>
              <a:rPr lang="en-US" sz="1100" b="0" dirty="0">
                <a:solidFill>
                  <a:srgbClr val="6E6558"/>
                </a:solidFill>
                <a:latin typeface="Segoe UI"/>
              </a:rPr>
              <a:t>with simulated crank and pressure signal</a:t>
            </a:r>
            <a:r>
              <a:rPr sz="1100" b="0" dirty="0">
                <a:solidFill>
                  <a:srgbClr val="6E6558"/>
                </a:solidFill>
                <a:latin typeface="Segoe UI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7257" y="2186865"/>
            <a:ext cx="3637178" cy="3291840"/>
          </a:xfrm>
          <a:prstGeom prst="rect">
            <a:avLst/>
          </a:prstGeom>
          <a:solidFill>
            <a:srgbClr val="FDFBF7"/>
          </a:solidFill>
          <a:ln w="9525">
            <a:solidFill>
              <a:srgbClr val="DC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77257" y="2186865"/>
            <a:ext cx="3637178" cy="38100"/>
          </a:xfrm>
          <a:prstGeom prst="rect">
            <a:avLst/>
          </a:prstGeom>
          <a:solidFill>
            <a:srgbClr val="B33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41849" y="2351457"/>
            <a:ext cx="3307994" cy="23929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50" b="1" dirty="0">
                <a:solidFill>
                  <a:srgbClr val="B3382E"/>
                </a:solidFill>
                <a:latin typeface="Segoe UI"/>
              </a:rPr>
              <a:t>FOUND → FIXED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550" b="1" dirty="0">
                <a:solidFill>
                  <a:srgbClr val="26221C"/>
                </a:solidFill>
                <a:latin typeface="Segoe UI"/>
              </a:rPr>
              <a:t>We crashed each controller on purpose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dirty="0">
                <a:solidFill>
                  <a:srgbClr val="26221C"/>
                </a:solidFill>
                <a:latin typeface="Segoe UI"/>
              </a:rPr>
              <a:t>Before: </a:t>
            </a:r>
            <a:r>
              <a:rPr sz="1100" b="0" dirty="0">
                <a:solidFill>
                  <a:srgbClr val="6E6558"/>
                </a:solidFill>
                <a:latin typeface="Segoe UI"/>
              </a:rPr>
              <a:t>killing the supervisory cRIO changed nothing — screens stayed green, the engine kept scheduling ignition on stale permissions, indefinitely.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dirty="0">
                <a:solidFill>
                  <a:srgbClr val="26221C"/>
                </a:solidFill>
                <a:latin typeface="Segoe UI"/>
              </a:rPr>
              <a:t>Now: </a:t>
            </a:r>
            <a:r>
              <a:rPr sz="1100" b="0" dirty="0">
                <a:solidFill>
                  <a:srgbClr val="6E6558"/>
                </a:solidFill>
                <a:latin typeface="Segoe UI"/>
              </a:rPr>
              <a:t>the engine controller self-clamps to SAFE when its supervisor goes silent, and the operator screen computes its own health verdicts — displayed state = the </a:t>
            </a:r>
            <a:r>
              <a:rPr sz="1100" b="1" dirty="0">
                <a:solidFill>
                  <a:srgbClr val="26221C"/>
                </a:solidFill>
                <a:latin typeface="Segoe UI"/>
              </a:rPr>
              <a:t>most restrictive of every source it can verify alive</a:t>
            </a:r>
            <a:r>
              <a:rPr sz="1100" b="0" dirty="0">
                <a:solidFill>
                  <a:srgbClr val="6E6558"/>
                </a:solidFill>
                <a:latin typeface="Segoe UI"/>
              </a:rPr>
              <a:t>. Re-tested by crashing both cRIOs: safe hold + honest screens, every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0146" y="5661585"/>
            <a:ext cx="5570067" cy="822960"/>
          </a:xfrm>
          <a:prstGeom prst="rect">
            <a:avLst/>
          </a:prstGeom>
          <a:solidFill>
            <a:srgbClr val="FDFBF7"/>
          </a:solidFill>
          <a:ln w="9525">
            <a:solidFill>
              <a:srgbClr val="DC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6450" y="5710161"/>
            <a:ext cx="5277459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dirty="0">
                <a:solidFill>
                  <a:srgbClr val="CF551F"/>
                </a:solidFill>
                <a:latin typeface="Segoe UI"/>
              </a:rPr>
              <a:t>NEXT   </a:t>
            </a:r>
            <a:r>
              <a:rPr sz="1100" b="1" dirty="0">
                <a:solidFill>
                  <a:srgbClr val="26221C"/>
                </a:solidFill>
                <a:latin typeface="Segoe UI"/>
              </a:rPr>
              <a:t>Oscilloscope session: </a:t>
            </a:r>
            <a:r>
              <a:rPr sz="1100" b="0" dirty="0">
                <a:solidFill>
                  <a:srgbClr val="6E6558"/>
                </a:solidFill>
                <a:latin typeface="Segoe UI"/>
              </a:rPr>
              <a:t>verify spark &amp; injection timing at the pins, sweep it live from Python · failure drills (watchdog, sync-loss, e-stop)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6713145"/>
            <a:ext cx="113687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E6558"/>
                </a:solidFill>
                <a:latin typeface="Segoe UI"/>
              </a:rPr>
              <a:t>◆ Noble Thermodynamics — Argon Power Cycle                                                                     Python ⇄ LabVIEW integration · SIL-1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E5E5349-FED7-8D81-B68D-0F02F87F6834}"/>
              </a:ext>
            </a:extLst>
          </p:cNvPr>
          <p:cNvGrpSpPr/>
          <p:nvPr/>
        </p:nvGrpSpPr>
        <p:grpSpPr>
          <a:xfrm>
            <a:off x="8201239" y="2448573"/>
            <a:ext cx="3133833" cy="1523666"/>
            <a:chOff x="8201239" y="2448573"/>
            <a:chExt cx="3133833" cy="1523666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5A34A59-83D6-7D18-DC34-FB3BB265B4E0}"/>
                </a:ext>
              </a:extLst>
            </p:cNvPr>
            <p:cNvSpPr txBox="1"/>
            <p:nvPr/>
          </p:nvSpPr>
          <p:spPr>
            <a:xfrm>
              <a:off x="9249409" y="2448573"/>
              <a:ext cx="1037493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PC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49EDFCE-A22D-53C3-1301-98DF79EB3BBA}"/>
                </a:ext>
              </a:extLst>
            </p:cNvPr>
            <p:cNvSpPr txBox="1"/>
            <p:nvPr/>
          </p:nvSpPr>
          <p:spPr>
            <a:xfrm>
              <a:off x="8201239" y="3602907"/>
              <a:ext cx="1138453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/>
                <a:t>cRIO 9049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4493BD0-1779-2C64-3270-178124C8F8A9}"/>
                </a:ext>
              </a:extLst>
            </p:cNvPr>
            <p:cNvSpPr txBox="1"/>
            <p:nvPr/>
          </p:nvSpPr>
          <p:spPr>
            <a:xfrm>
              <a:off x="10196619" y="3602907"/>
              <a:ext cx="1138453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/>
                <a:t>cRIO 9056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69E3C3F-1714-516A-0444-F8C3DE92693F}"/>
                </a:ext>
              </a:extLst>
            </p:cNvPr>
            <p:cNvCxnSpPr/>
            <p:nvPr/>
          </p:nvCxnSpPr>
          <p:spPr>
            <a:xfrm flipV="1">
              <a:off x="9056518" y="2864991"/>
              <a:ext cx="385782" cy="64647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4E000028-7F24-E2F3-DD85-B9B50A6CE55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53217" y="2864991"/>
              <a:ext cx="385782" cy="64647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C041A58-8D75-1292-86E2-0594D0B29A81}"/>
                </a:ext>
              </a:extLst>
            </p:cNvPr>
            <p:cNvSpPr txBox="1"/>
            <p:nvPr/>
          </p:nvSpPr>
          <p:spPr>
            <a:xfrm rot="18271216">
              <a:off x="8618282" y="3040121"/>
              <a:ext cx="80928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/>
                <a:t>Heartbeat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1DD6D93-5F35-39DE-2DB5-DF59ABFE9EBA}"/>
                </a:ext>
              </a:extLst>
            </p:cNvPr>
            <p:cNvSpPr txBox="1"/>
            <p:nvPr/>
          </p:nvSpPr>
          <p:spPr>
            <a:xfrm rot="3328784" flipH="1">
              <a:off x="10038723" y="3061270"/>
              <a:ext cx="80928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/>
                <a:t>Heartbeat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287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Segoe UI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Guillaume Beardsell</cp:lastModifiedBy>
  <cp:revision>34</cp:revision>
  <dcterms:created xsi:type="dcterms:W3CDTF">2013-01-27T09:14:16Z</dcterms:created>
  <dcterms:modified xsi:type="dcterms:W3CDTF">2026-07-18T01:12:40Z</dcterms:modified>
  <cp:category/>
</cp:coreProperties>
</file>